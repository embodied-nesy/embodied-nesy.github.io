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https://2026.ieee-iros.org/program/workshops-tutorials/; https://2026.ieee-iros.org/; https://www.ieee-ras.org/event/2026-ieee-rsj-international-conference-on-intelligent-robots-and-systems-iros-61738/</a:t>
            </a:r>
          </a:p>
          <a:p>
            <a:r>
              <a:t>Checked 26 September 2026.</a:t>
            </a:r>
          </a:p>
          <a:p>
            <a:r>
              <a:t>Opening remarks are at 08:25 per the workshop website. The conference listing gives the workshop block as 08:30–12:30, Room 411. Logo from the official IROS homepage; banner from this repository. Slides 1–12 form the opening sequence; paper directory slides can be skipped during the five-minute introduction. Later slides are for session transitions and closing.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Thank the organizers; the following two slides acknowledge the complete reviewer roster.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ReS AI 2026 Reviewers Status.csv, name column</a:t>
            </a:r>
          </a:p>
          <a:p>
            <a:r>
              <a:t>Checked 26 September 2026.</a:t>
            </a:r>
          </a:p>
          <a:p>
            <a:r>
              <a:t>All 43 distinct display names from the supplied reviewer-status CSV are included verbatim, alphabetized by display name. No filtering by assignments or completion; no affiliations or reviewer-performance designations are inferred. Reviewer IDs, assignment counts, and completion status are not displayed.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ReS AI 2026 Reviewers Status.csv, name column</a:t>
            </a:r>
          </a:p>
          <a:p>
            <a:r>
              <a:t>Checked 26 September 2026.</a:t>
            </a:r>
          </a:p>
          <a:p>
            <a:r>
              <a:t>All 43 distinct display names from the supplied reviewer-status CSV are included verbatim, alphabetized by display name. No filtering by assignments or completion; no affiliations or reviewer-performance designations are inferred. Reviewer IDs, assignment counts, and completion status are not displayed.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Paraphrase of the website About section. Audience includes robot learning, cognitive robotics, planning and control, embodied AI, and neuro-symbolic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Suggested framing questions synthesized from the About, Targeted Topics, and Debate sections. These are organizer discussion prompts, not claimed verbatim quotations.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user panel correction</a:t>
            </a:r>
          </a:p>
          <a:p>
            <a:r>
              <a:t>Checked 26 September 2026.</a:t>
            </a:r>
          </a:p>
          <a:p>
            <a:r>
              <a:t>Five keynote speakers plus Jean Oh as an invited panelist at 11:20. Panel participation updated by the user; Jean’s affiliation and portrait come from the organizer section.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ReS AI 2026 Submission Status.csv (acceptance decisions only)</a:t>
            </a:r>
          </a:p>
          <a:p>
            <a:r>
              <a:t>Checked 26 September 2026.</a:t>
            </a:r>
          </a:p>
          <a:p>
            <a:r>
              <a:t>18 accepted papers = 4 Oral + 14 Poster entries in index.html, cross-checked against CSV decisions. Website submission guidelines invite all accepted papers for poster presentation. No reviewer scores or rejected submissions are included.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https://2026.ieee-iros.org/program/workshops-tutorials/</a:t>
            </a:r>
          </a:p>
          <a:p>
            <a:r>
              <a:t>Checked 26 September 2026.</a:t>
            </a:r>
          </a:p>
          <a:p>
            <a:r>
              <a:t>Follow the workshop website’s exact start times and ordering. Conference listing: Room 411, 08:30–12:30. Workshop introductory remarks begin five minutes earlier, at 08:25. Do not infer individual contributed-talk lengths.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Times indicate session starts, not individual paper start times. Full paper titles link to OpenReview.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These 14 papers are listed as Poster on the website. The four oral papers are also invited to poster presentation per the submission guidelines. Titles link to their public OpenReview pages. These directory slides may be skipped during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These 14 papers are listed as Poster on the website. The four oral papers are also invited to poster presentation per the submission guidelines. Titles link to their public OpenReview pages. These directory slides may be skipped during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IROS_ReS_AI_Abstracts.docx</a:t>
            </a:r>
          </a:p>
          <a:p>
            <a:r>
              <a:t>Checked 26 September 2026.</a:t>
            </a:r>
          </a:p>
          <a:p>
            <a:r>
              <a:t>Session holding slide. Speaker abstract:</a:t>
            </a:r>
          </a:p>
          <a:p>
            <a:r>
              <a:t>Neuro-symbolic robotics aims to combine the adaptability of learning-based approaches with the interpretability and reasoning capabilities of symbolic representations. For robots operating in the real world, however, meaningful knowledge must remain grounded in embodied experience and continuously shaped through interaction with the environment and with other agents. In this talk, I will argue that developmental cognitive robotics offers key principles for building such grounded representations. Drawing on research in developmental robotics and human–robot interaction, I will discuss how body representations, sensorimotor contingencies, action understanding, and social interaction provide the experiential foundations for prediction, adaptation, communication, and mutual understanding. Rather than viewing embodiment merely as a source of sensory input, I will present cognitive development as the process through which meaning is progressively constructed and shared. I will conclude by discussing how developmental principles can inspire the next generation of embodied neuro-symbolic robots, capable of continuous learning, adaptation, and richer interaction with humans.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IROS_ReS_AI_Abstracts.docx</a:t>
            </a:r>
          </a:p>
          <a:p>
            <a:r>
              <a:t>Checked 26 September 2026.</a:t>
            </a:r>
          </a:p>
          <a:p>
            <a:r>
              <a:t>Session holding slide. Speaker abstract:</a:t>
            </a:r>
          </a:p>
          <a:p>
            <a:r>
              <a:t>Field robots fail where data is thinnest: degraded sensing, novel objects, unmodeled contact. Scale does produce useful representations. But the coverage an end-to-end policy needs grows like (states × actions)^horizon, while any demonstration set is a fixed budget. Every memory is finite, whether a context window, an operator's attention, or a robot's map. Finite memory forces us to group details into handles that stand for the group, and those handles are symbols, named or not. This talk argues for learning sub-problems end-to-end where data allows, and composing them symbolically where it does not. It poses two questions: where does an abstraction hold, and how do we enforce rules at its boundary (RuleFuser, ViSafe, SafeDec); and which sub-problems should become symbols at all (IVNTR, ReSYNC).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IROS_ReS_AI_Abstracts.docx</a:t>
            </a:r>
          </a:p>
          <a:p>
            <a:r>
              <a:t>Checked 26 September 2026.</a:t>
            </a:r>
          </a:p>
          <a:p>
            <a:r>
              <a:t>Session holding slide. Speaker abstract:</a:t>
            </a:r>
          </a:p>
          <a:p>
            <a:r>
              <a:t>I aim to build intelligent agents that continually learn, reason, and plan: agents that can answer queries, infer human intentions, and pursue long-horizon goals spanning hours to days. In this talk, I will describe a general framework for learning and reasoning with neuro-symbolicconcepts. Drawing inspirations from theories and studies in cognitive science, neuro-symbolic concepts serve as compositional abstractions of the physical world, representing object properties, relations, and affordances, and actions. Each concept combines symbolic programs, which specify how concepts can be structured and composed, with neural networks, which ground them in sensory inputs and agent actions. Like words combining into sentences, these concepts can be reused and recombined to support reasoning and planning in novel situations. I show that systems that leverage neuro-symbolic concepts demonstrate superior data efficiency, enable agents to reason and plan more quickly, and achieve strong generalization in novel situations and for novel goals.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Session order and start time follow the workshop website. Individual talk durations and presenter names are not specified.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IROS_ReS_AI_Abstracts.docx</a:t>
            </a:r>
          </a:p>
          <a:p>
            <a:r>
              <a:t>Checked 26 September 2026.</a:t>
            </a:r>
          </a:p>
          <a:p>
            <a:r>
              <a:t>Session holding slide. Speaker abstract:</a:t>
            </a:r>
          </a:p>
          <a:p>
            <a:r>
              <a:t>A prevailing narrative holds that AI model architectures have largely converged, but convergence is only the beginning, especially for Physical and Spatial Intelligence. AI progress now hinges on science-driven evaluation and iterative refinement. In this keynote, YZ will present two new works from the Active Perception Research Group: an evaluation framework that pinpoints the origins of hallucinations in vision-language models (EMNLP 26), and a spatial world modeling: a framework for learning spatially structured latent dynamics. The talk will also reflect on the research journey that led to these directions, including VISOR (used in GPT4 tech review); TextInVision (CVPRW 25 best paper); VOILA (ICLR 2025), and EraseFlow (NeurIPS 2025), and some learnings from the speaker’s engagement in a GenAI for creativity project.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IROS_ReS_AI_Abstracts.docx</a:t>
            </a:r>
          </a:p>
          <a:p>
            <a:r>
              <a:t>Checked 26 September 2026.</a:t>
            </a:r>
          </a:p>
          <a:p>
            <a:r>
              <a:t>Session holding slide. Speaker abstract:</a:t>
            </a:r>
          </a:p>
          <a:p>
            <a:r>
              <a:t>Language plays a central role in human learning and skill acquisition. With the emergence of large language models (LLMs), we are entering a new era in which language is increasingly used to guide task learning in robots. In this talk, I will present some recent work from my lab that explores language use in robotic tasks, focusing on failure recovery and safety-conscious planning.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Session order and start time follow the workshop website. Individual talk durations and presenter names are not specified.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user panel correction</a:t>
            </a:r>
          </a:p>
          <a:p>
            <a:r>
              <a:t>Checked 26 September 2026.</a:t>
            </a:r>
          </a:p>
          <a:p>
            <a:r>
              <a:t>The debate question is reproduced verbatim from the workshop website. Panel roster corrected by the user: Sebastian Scherer, Jiayuan Mao, Yezhou (YZ) Yang, and Jean Oh. No moderator or audience submission platform is specified.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Live announcement slide. No winning paper, award presenter, or finalized award-selection procedure appears in the repository. Announce the confirmed winner verbally or add it once selected. Do not infer the winner from review scores. Website states double-blind review and highest-rated papers receiving spotlight presentations; it does not document a separate award ranking process.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index.html; https://embodied-nesy.github.io/</a:t>
            </a:r>
          </a:p>
          <a:p>
            <a:r>
              <a:t>Checked 26 September 2026.</a:t>
            </a:r>
          </a:p>
          <a:p>
            <a:r>
              <a:t>Workshop and Zoom hyperlinks are taken from index.html. QR code encodes the workshop website. Source links and editorial notes are recorded in slide notes throughout the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png"/><Relationship Id="rId8"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openreview.net/forum?id=l0Fj6DBe3u" TargetMode="External"/><Relationship Id="rId4" Type="http://schemas.openxmlformats.org/officeDocument/2006/relationships/hyperlink" Target="https://openreview.net/forum?id=WSdpJe6GS2" TargetMode="External"/><Relationship Id="rId5" Type="http://schemas.openxmlformats.org/officeDocument/2006/relationships/hyperlink" Target="https://openreview.net/forum?id=2I21cecxcP" TargetMode="External"/><Relationship Id="rId6" Type="http://schemas.openxmlformats.org/officeDocument/2006/relationships/hyperlink" Target="https://openreview.net/forum?id=63WdvPHujJ"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openreview.net/forum?id=rlohLG33Eu" TargetMode="External"/><Relationship Id="rId4" Type="http://schemas.openxmlformats.org/officeDocument/2006/relationships/hyperlink" Target="https://openreview.net/forum?id=jJxv8XP7Yn" TargetMode="External"/><Relationship Id="rId5" Type="http://schemas.openxmlformats.org/officeDocument/2006/relationships/hyperlink" Target="https://openreview.net/forum?id=wdVMryddOB" TargetMode="External"/><Relationship Id="rId6" Type="http://schemas.openxmlformats.org/officeDocument/2006/relationships/hyperlink" Target="https://openreview.net/forum?id=mmJWE54AvM" TargetMode="External"/><Relationship Id="rId7" Type="http://schemas.openxmlformats.org/officeDocument/2006/relationships/hyperlink" Target="https://openreview.net/forum?id=eh3XESwlL9" TargetMode="External"/><Relationship Id="rId8" Type="http://schemas.openxmlformats.org/officeDocument/2006/relationships/hyperlink" Target="https://openreview.net/forum?id=u0Twe76K8T" TargetMode="External"/><Relationship Id="rId9" Type="http://schemas.openxmlformats.org/officeDocument/2006/relationships/hyperlink" Target="https://openreview.net/forum?id=SSaaPbjE2V"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openreview.net/forum?id=6fA8lGCfaN" TargetMode="External"/><Relationship Id="rId4" Type="http://schemas.openxmlformats.org/officeDocument/2006/relationships/hyperlink" Target="https://openreview.net/forum?id=an1o2EZ3dJ" TargetMode="External"/><Relationship Id="rId5" Type="http://schemas.openxmlformats.org/officeDocument/2006/relationships/hyperlink" Target="https://openreview.net/forum?id=357abYDMzC" TargetMode="External"/><Relationship Id="rId6" Type="http://schemas.openxmlformats.org/officeDocument/2006/relationships/hyperlink" Target="https://openreview.net/forum?id=Ki2oCpOkTt" TargetMode="External"/><Relationship Id="rId7" Type="http://schemas.openxmlformats.org/officeDocument/2006/relationships/hyperlink" Target="https://openreview.net/forum?id=hl8srt6XAC" TargetMode="External"/><Relationship Id="rId8" Type="http://schemas.openxmlformats.org/officeDocument/2006/relationships/hyperlink" Target="https://openreview.net/forum?id=P5XEz3FWfg" TargetMode="External"/><Relationship Id="rId9" Type="http://schemas.openxmlformats.org/officeDocument/2006/relationships/hyperlink" Target="https://openreview.net/forum?id=Uvwd9tUGe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openreview.net/forum?id=l0Fj6DBe3u" TargetMode="External"/><Relationship Id="rId4" Type="http://schemas.openxmlformats.org/officeDocument/2006/relationships/hyperlink" Target="https://openreview.net/forum?id=WSdpJe6GS2"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embodied-nesy.github.io/" TargetMode="Externa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openreview.net/forum?id=2I21cecxcP" TargetMode="External"/><Relationship Id="rId4" Type="http://schemas.openxmlformats.org/officeDocument/2006/relationships/hyperlink" Target="https://openreview.net/forum?id=63WdvPHujJ"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embodied-nesy.github.io/" TargetMode="External"/><Relationship Id="rId4" Type="http://schemas.openxmlformats.org/officeDocument/2006/relationships/hyperlink" Target="https://cmu.zoom.us/s/96000840560" TargetMode="External"/><Relationship Id="rId5"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anner_full.png"/>
          <p:cNvPicPr>
            <a:picLocks noChangeAspect="1"/>
          </p:cNvPicPr>
          <p:nvPr/>
        </p:nvPicPr>
        <p:blipFill>
          <a:blip r:embed="rId2"/>
          <a:srcRect l="32064" r="32064"/>
          <a:stretch>
            <a:fillRect/>
          </a:stretch>
        </p:blipFill>
        <p:spPr>
          <a:xfrm>
            <a:off x="7818120" y="0"/>
            <a:ext cx="4373575" cy="6858000"/>
          </a:xfrm>
          <a:prstGeom prst="rect">
            <a:avLst/>
          </a:prstGeom>
        </p:spPr>
      </p:pic>
      <p:sp>
        <p:nvSpPr>
          <p:cNvPr id="4" name="Rectangle 3"/>
          <p:cNvSpPr/>
          <p:nvPr/>
        </p:nvSpPr>
        <p:spPr>
          <a:xfrm>
            <a:off x="548640" y="548640"/>
            <a:ext cx="548640" cy="59436"/>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22960"/>
            <a:ext cx="6400800" cy="365760"/>
          </a:xfrm>
          <a:prstGeom prst="rect">
            <a:avLst/>
          </a:prstGeom>
          <a:noFill/>
        </p:spPr>
        <p:txBody>
          <a:bodyPr wrap="square" lIns="0" rIns="0" tIns="0" bIns="0">
            <a:spAutoFit/>
          </a:bodyPr>
          <a:lstStyle/>
          <a:p>
            <a:pPr>
              <a:spcAft>
                <a:spcPts val="500"/>
              </a:spcAft>
              <a:defRPr sz="1600" b="1">
                <a:solidFill>
                  <a:srgbClr val="69D7D8"/>
                </a:solidFill>
                <a:latin typeface="Arial"/>
              </a:defRPr>
            </a:pPr>
            <a:r>
              <a:t>IROS 2026 WORKSHOP</a:t>
            </a:r>
          </a:p>
        </p:txBody>
      </p:sp>
      <p:sp>
        <p:nvSpPr>
          <p:cNvPr id="6" name="TextBox 5"/>
          <p:cNvSpPr txBox="1"/>
          <p:nvPr/>
        </p:nvSpPr>
        <p:spPr>
          <a:xfrm>
            <a:off x="521207" y="1344168"/>
            <a:ext cx="7040880" cy="914400"/>
          </a:xfrm>
          <a:prstGeom prst="rect">
            <a:avLst/>
          </a:prstGeom>
          <a:noFill/>
        </p:spPr>
        <p:txBody>
          <a:bodyPr wrap="square" lIns="0" rIns="0" tIns="0" bIns="0">
            <a:spAutoFit/>
          </a:bodyPr>
          <a:lstStyle/>
          <a:p>
            <a:pPr>
              <a:spcAft>
                <a:spcPts val="500"/>
              </a:spcAft>
              <a:defRPr sz="6800" b="1">
                <a:solidFill>
                  <a:srgbClr val="FFFFFF"/>
                </a:solidFill>
                <a:latin typeface="Arial"/>
              </a:defRPr>
            </a:pPr>
            <a:r>
              <a:t>ReS AI</a:t>
            </a:r>
          </a:p>
        </p:txBody>
      </p:sp>
      <p:sp>
        <p:nvSpPr>
          <p:cNvPr id="7" name="TextBox 6"/>
          <p:cNvSpPr txBox="1"/>
          <p:nvPr/>
        </p:nvSpPr>
        <p:spPr>
          <a:xfrm>
            <a:off x="548640" y="2487168"/>
            <a:ext cx="6812280" cy="1737360"/>
          </a:xfrm>
          <a:prstGeom prst="rect">
            <a:avLst/>
          </a:prstGeom>
          <a:noFill/>
        </p:spPr>
        <p:txBody>
          <a:bodyPr wrap="square" lIns="0" rIns="0" tIns="0" bIns="0">
            <a:spAutoFit/>
          </a:bodyPr>
          <a:lstStyle/>
          <a:p>
            <a:pPr>
              <a:spcAft>
                <a:spcPts val="500"/>
              </a:spcAft>
              <a:defRPr sz="3300" b="1">
                <a:solidFill>
                  <a:srgbClr val="FFFFFF"/>
                </a:solidFill>
                <a:latin typeface="Arial"/>
              </a:defRPr>
            </a:pPr>
            <a:r>
              <a:t>Embodied Neuro-Symbolic AI</a:t>
            </a:r>
          </a:p>
          <a:p>
            <a:pPr>
              <a:spcAft>
                <a:spcPts val="500"/>
              </a:spcAft>
              <a:defRPr sz="3300" b="1">
                <a:solidFill>
                  <a:srgbClr val="FFFFFF"/>
                </a:solidFill>
                <a:latin typeface="Arial"/>
              </a:defRPr>
            </a:pPr>
            <a:r>
              <a:t>for Reliable and Safe Robotics</a:t>
            </a:r>
          </a:p>
        </p:txBody>
      </p:sp>
      <p:sp>
        <p:nvSpPr>
          <p:cNvPr id="8" name="TextBox 7"/>
          <p:cNvSpPr txBox="1"/>
          <p:nvPr/>
        </p:nvSpPr>
        <p:spPr>
          <a:xfrm>
            <a:off x="548640" y="4709160"/>
            <a:ext cx="6858000" cy="365760"/>
          </a:xfrm>
          <a:prstGeom prst="rect">
            <a:avLst/>
          </a:prstGeom>
          <a:noFill/>
        </p:spPr>
        <p:txBody>
          <a:bodyPr wrap="square" lIns="0" rIns="0" tIns="0" bIns="0">
            <a:spAutoFit/>
          </a:bodyPr>
          <a:lstStyle/>
          <a:p>
            <a:pPr>
              <a:spcAft>
                <a:spcPts val="500"/>
              </a:spcAft>
              <a:defRPr sz="1900" b="0">
                <a:solidFill>
                  <a:srgbClr val="FFFFFF"/>
                </a:solidFill>
                <a:latin typeface="Arial"/>
              </a:defRPr>
            </a:pPr>
            <a:r>
              <a:t>September 27, 2026  •  Pittsburgh, PA, USA</a:t>
            </a:r>
          </a:p>
        </p:txBody>
      </p:sp>
      <p:sp>
        <p:nvSpPr>
          <p:cNvPr id="9" name="TextBox 8"/>
          <p:cNvSpPr txBox="1"/>
          <p:nvPr/>
        </p:nvSpPr>
        <p:spPr>
          <a:xfrm>
            <a:off x="548640" y="5193792"/>
            <a:ext cx="6858000" cy="365760"/>
          </a:xfrm>
          <a:prstGeom prst="rect">
            <a:avLst/>
          </a:prstGeom>
          <a:noFill/>
        </p:spPr>
        <p:txBody>
          <a:bodyPr wrap="square" lIns="0" rIns="0" tIns="0" bIns="0">
            <a:spAutoFit/>
          </a:bodyPr>
          <a:lstStyle/>
          <a:p>
            <a:pPr>
              <a:spcAft>
                <a:spcPts val="500"/>
              </a:spcAft>
              <a:defRPr sz="1800" b="0">
                <a:solidFill>
                  <a:srgbClr val="69D7D8"/>
                </a:solidFill>
                <a:latin typeface="Arial"/>
              </a:defRPr>
            </a:pPr>
            <a:r>
              <a:t>Room 411  •  Introductory remarks at 08:25 EDT</a:t>
            </a:r>
          </a:p>
        </p:txBody>
      </p:sp>
      <p:sp>
        <p:nvSpPr>
          <p:cNvPr id="10" name="TextBox 9"/>
          <p:cNvSpPr txBox="1"/>
          <p:nvPr/>
        </p:nvSpPr>
        <p:spPr>
          <a:xfrm>
            <a:off x="548640" y="5605272"/>
            <a:ext cx="6858000" cy="365760"/>
          </a:xfrm>
          <a:prstGeom prst="rect">
            <a:avLst/>
          </a:prstGeom>
          <a:noFill/>
        </p:spPr>
        <p:txBody>
          <a:bodyPr wrap="square" lIns="0" rIns="0" tIns="0" bIns="0">
            <a:spAutoFit/>
          </a:bodyPr>
          <a:lstStyle/>
          <a:p>
            <a:pPr>
              <a:spcAft>
                <a:spcPts val="500"/>
              </a:spcAft>
              <a:defRPr sz="1600" b="0">
                <a:solidFill>
                  <a:srgbClr val="B9CFD8"/>
                </a:solidFill>
                <a:latin typeface="Arial"/>
              </a:defRPr>
            </a:pPr>
            <a:r>
              <a:t>David L. Lawrence Convention Center</a:t>
            </a:r>
          </a:p>
        </p:txBody>
      </p:sp>
      <p:sp>
        <p:nvSpPr>
          <p:cNvPr id="11" name="Rounded Rectangle 10"/>
          <p:cNvSpPr/>
          <p:nvPr/>
        </p:nvSpPr>
        <p:spPr>
          <a:xfrm>
            <a:off x="9610344" y="292608"/>
            <a:ext cx="224028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ros2026-logo.png"/>
          <p:cNvPicPr>
            <a:picLocks noChangeAspect="1"/>
          </p:cNvPicPr>
          <p:nvPr/>
        </p:nvPicPr>
        <p:blipFill>
          <a:blip r:embed="rId3"/>
          <a:stretch>
            <a:fillRect/>
          </a:stretch>
        </p:blipFill>
        <p:spPr>
          <a:xfrm>
            <a:off x="9720072" y="402336"/>
            <a:ext cx="2011680" cy="130759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COMMUNITY</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Meet the organizers</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02</a:t>
            </a:r>
          </a:p>
        </p:txBody>
      </p:sp>
      <p:pic>
        <p:nvPicPr>
          <p:cNvPr id="8" name="Picture 7" descr="ruwan.jpg"/>
          <p:cNvPicPr>
            <a:picLocks noChangeAspect="1"/>
          </p:cNvPicPr>
          <p:nvPr/>
        </p:nvPicPr>
        <p:blipFill>
          <a:blip r:embed="rId3"/>
          <a:srcRect t="7907" b="7907"/>
          <a:stretch>
            <a:fillRect/>
          </a:stretch>
        </p:blipFill>
        <p:spPr>
          <a:xfrm>
            <a:off x="548640" y="1847088"/>
            <a:ext cx="1024128" cy="1234440"/>
          </a:xfrm>
          <a:prstGeom prst="rect">
            <a:avLst/>
          </a:prstGeom>
        </p:spPr>
      </p:pic>
      <p:sp>
        <p:nvSpPr>
          <p:cNvPr id="9" name="TextBox 8"/>
          <p:cNvSpPr txBox="1"/>
          <p:nvPr/>
        </p:nvSpPr>
        <p:spPr>
          <a:xfrm>
            <a:off x="1737360" y="1892807"/>
            <a:ext cx="2395728" cy="685800"/>
          </a:xfrm>
          <a:prstGeom prst="rect">
            <a:avLst/>
          </a:prstGeom>
          <a:noFill/>
        </p:spPr>
        <p:txBody>
          <a:bodyPr wrap="square" lIns="0" rIns="0" tIns="0" bIns="0">
            <a:spAutoFit/>
          </a:bodyPr>
          <a:lstStyle/>
          <a:p>
            <a:pPr>
              <a:spcAft>
                <a:spcPts val="500"/>
              </a:spcAft>
              <a:defRPr sz="2000" b="1">
                <a:solidFill>
                  <a:srgbClr val="173343"/>
                </a:solidFill>
                <a:latin typeface="Arial"/>
              </a:defRPr>
            </a:pPr>
            <a:r>
              <a:t>Ruwan Wickramarachchi</a:t>
            </a:r>
          </a:p>
        </p:txBody>
      </p:sp>
      <p:sp>
        <p:nvSpPr>
          <p:cNvPr id="10" name="TextBox 9"/>
          <p:cNvSpPr txBox="1"/>
          <p:nvPr/>
        </p:nvSpPr>
        <p:spPr>
          <a:xfrm>
            <a:off x="1737360" y="2670048"/>
            <a:ext cx="2377440" cy="896112"/>
          </a:xfrm>
          <a:prstGeom prst="rect">
            <a:avLst/>
          </a:prstGeom>
          <a:noFill/>
        </p:spPr>
        <p:txBody>
          <a:bodyPr wrap="square" lIns="0" rIns="0" tIns="0" bIns="0">
            <a:spAutoFit/>
          </a:bodyPr>
          <a:lstStyle/>
          <a:p>
            <a:pPr>
              <a:spcAft>
                <a:spcPts val="500"/>
              </a:spcAft>
              <a:defRPr sz="1500" b="0">
                <a:solidFill>
                  <a:srgbClr val="536976"/>
                </a:solidFill>
                <a:latin typeface="Arial"/>
              </a:defRPr>
            </a:pPr>
            <a:r>
              <a:t>Bosch Center for AI</a:t>
            </a:r>
          </a:p>
        </p:txBody>
      </p:sp>
      <p:pic>
        <p:nvPicPr>
          <p:cNvPr id="11" name="Picture 10" descr="bowen.jpg"/>
          <p:cNvPicPr>
            <a:picLocks noChangeAspect="1"/>
          </p:cNvPicPr>
          <p:nvPr/>
        </p:nvPicPr>
        <p:blipFill>
          <a:blip r:embed="rId4"/>
          <a:srcRect l="8519" r="8519"/>
          <a:stretch>
            <a:fillRect/>
          </a:stretch>
        </p:blipFill>
        <p:spPr>
          <a:xfrm>
            <a:off x="4325112" y="1847088"/>
            <a:ext cx="1024128" cy="1234440"/>
          </a:xfrm>
          <a:prstGeom prst="rect">
            <a:avLst/>
          </a:prstGeom>
        </p:spPr>
      </p:pic>
      <p:sp>
        <p:nvSpPr>
          <p:cNvPr id="12" name="TextBox 11"/>
          <p:cNvSpPr txBox="1"/>
          <p:nvPr/>
        </p:nvSpPr>
        <p:spPr>
          <a:xfrm>
            <a:off x="5513831" y="1892807"/>
            <a:ext cx="2395728" cy="685800"/>
          </a:xfrm>
          <a:prstGeom prst="rect">
            <a:avLst/>
          </a:prstGeom>
          <a:noFill/>
        </p:spPr>
        <p:txBody>
          <a:bodyPr wrap="square" lIns="0" rIns="0" tIns="0" bIns="0">
            <a:spAutoFit/>
          </a:bodyPr>
          <a:lstStyle/>
          <a:p>
            <a:pPr>
              <a:spcAft>
                <a:spcPts val="500"/>
              </a:spcAft>
              <a:defRPr sz="2000" b="1">
                <a:solidFill>
                  <a:srgbClr val="173343"/>
                </a:solidFill>
                <a:latin typeface="Arial"/>
              </a:defRPr>
            </a:pPr>
            <a:r>
              <a:t>Bowen Li</a:t>
            </a:r>
          </a:p>
        </p:txBody>
      </p:sp>
      <p:sp>
        <p:nvSpPr>
          <p:cNvPr id="13" name="TextBox 12"/>
          <p:cNvSpPr txBox="1"/>
          <p:nvPr/>
        </p:nvSpPr>
        <p:spPr>
          <a:xfrm>
            <a:off x="5513831" y="2670048"/>
            <a:ext cx="2377440" cy="896112"/>
          </a:xfrm>
          <a:prstGeom prst="rect">
            <a:avLst/>
          </a:prstGeom>
          <a:noFill/>
        </p:spPr>
        <p:txBody>
          <a:bodyPr wrap="square" lIns="0" rIns="0" tIns="0" bIns="0">
            <a:spAutoFit/>
          </a:bodyPr>
          <a:lstStyle/>
          <a:p>
            <a:pPr>
              <a:spcAft>
                <a:spcPts val="500"/>
              </a:spcAft>
              <a:defRPr sz="1500" b="0">
                <a:solidFill>
                  <a:srgbClr val="536976"/>
                </a:solidFill>
                <a:latin typeface="Arial"/>
              </a:defRPr>
            </a:pPr>
            <a:r>
              <a:t>Carnegie Mellon University</a:t>
            </a:r>
          </a:p>
        </p:txBody>
      </p:sp>
      <p:pic>
        <p:nvPicPr>
          <p:cNvPr id="14" name="Picture 13" descr="tom.jpg"/>
          <p:cNvPicPr>
            <a:picLocks noChangeAspect="1"/>
          </p:cNvPicPr>
          <p:nvPr/>
        </p:nvPicPr>
        <p:blipFill>
          <a:blip r:embed="rId5"/>
          <a:srcRect t="4799" b="4799"/>
          <a:stretch>
            <a:fillRect/>
          </a:stretch>
        </p:blipFill>
        <p:spPr>
          <a:xfrm>
            <a:off x="8101583" y="1847088"/>
            <a:ext cx="1024128" cy="1234440"/>
          </a:xfrm>
          <a:prstGeom prst="rect">
            <a:avLst/>
          </a:prstGeom>
        </p:spPr>
      </p:pic>
      <p:sp>
        <p:nvSpPr>
          <p:cNvPr id="15" name="TextBox 14"/>
          <p:cNvSpPr txBox="1"/>
          <p:nvPr/>
        </p:nvSpPr>
        <p:spPr>
          <a:xfrm>
            <a:off x="9290304" y="1892807"/>
            <a:ext cx="2395728" cy="685800"/>
          </a:xfrm>
          <a:prstGeom prst="rect">
            <a:avLst/>
          </a:prstGeom>
          <a:noFill/>
        </p:spPr>
        <p:txBody>
          <a:bodyPr wrap="square" lIns="0" rIns="0" tIns="0" bIns="0">
            <a:spAutoFit/>
          </a:bodyPr>
          <a:lstStyle/>
          <a:p>
            <a:pPr>
              <a:spcAft>
                <a:spcPts val="500"/>
              </a:spcAft>
              <a:defRPr sz="2000" b="1">
                <a:solidFill>
                  <a:srgbClr val="173343"/>
                </a:solidFill>
                <a:latin typeface="Arial"/>
              </a:defRPr>
            </a:pPr>
            <a:r>
              <a:t>Tom Silver</a:t>
            </a:r>
          </a:p>
        </p:txBody>
      </p:sp>
      <p:sp>
        <p:nvSpPr>
          <p:cNvPr id="16" name="TextBox 15"/>
          <p:cNvSpPr txBox="1"/>
          <p:nvPr/>
        </p:nvSpPr>
        <p:spPr>
          <a:xfrm>
            <a:off x="9290304" y="2670048"/>
            <a:ext cx="2377440" cy="896112"/>
          </a:xfrm>
          <a:prstGeom prst="rect">
            <a:avLst/>
          </a:prstGeom>
          <a:noFill/>
        </p:spPr>
        <p:txBody>
          <a:bodyPr wrap="square" lIns="0" rIns="0" tIns="0" bIns="0">
            <a:spAutoFit/>
          </a:bodyPr>
          <a:lstStyle/>
          <a:p>
            <a:pPr>
              <a:spcAft>
                <a:spcPts val="500"/>
              </a:spcAft>
              <a:defRPr sz="1500" b="0">
                <a:solidFill>
                  <a:srgbClr val="536976"/>
                </a:solidFill>
                <a:latin typeface="Arial"/>
              </a:defRPr>
            </a:pPr>
            <a:r>
              <a:t>Princeton University</a:t>
            </a:r>
          </a:p>
        </p:txBody>
      </p:sp>
      <p:pic>
        <p:nvPicPr>
          <p:cNvPr id="17" name="Picture 16" descr="alessandro.jpg"/>
          <p:cNvPicPr>
            <a:picLocks noChangeAspect="1"/>
          </p:cNvPicPr>
          <p:nvPr/>
        </p:nvPicPr>
        <p:blipFill>
          <a:blip r:embed="rId6"/>
          <a:srcRect t="1406" b="1406"/>
          <a:stretch>
            <a:fillRect/>
          </a:stretch>
        </p:blipFill>
        <p:spPr>
          <a:xfrm>
            <a:off x="548640" y="3995928"/>
            <a:ext cx="1024128" cy="1234440"/>
          </a:xfrm>
          <a:prstGeom prst="rect">
            <a:avLst/>
          </a:prstGeom>
        </p:spPr>
      </p:pic>
      <p:sp>
        <p:nvSpPr>
          <p:cNvPr id="18" name="TextBox 17"/>
          <p:cNvSpPr txBox="1"/>
          <p:nvPr/>
        </p:nvSpPr>
        <p:spPr>
          <a:xfrm>
            <a:off x="1737360" y="4041648"/>
            <a:ext cx="2395728" cy="685800"/>
          </a:xfrm>
          <a:prstGeom prst="rect">
            <a:avLst/>
          </a:prstGeom>
          <a:noFill/>
        </p:spPr>
        <p:txBody>
          <a:bodyPr wrap="square" lIns="0" rIns="0" tIns="0" bIns="0">
            <a:spAutoFit/>
          </a:bodyPr>
          <a:lstStyle/>
          <a:p>
            <a:pPr>
              <a:spcAft>
                <a:spcPts val="500"/>
              </a:spcAft>
              <a:defRPr sz="2000" b="1">
                <a:solidFill>
                  <a:srgbClr val="173343"/>
                </a:solidFill>
                <a:latin typeface="Arial"/>
              </a:defRPr>
            </a:pPr>
            <a:r>
              <a:t>Alessandro Oltramari</a:t>
            </a:r>
          </a:p>
        </p:txBody>
      </p:sp>
      <p:sp>
        <p:nvSpPr>
          <p:cNvPr id="19" name="TextBox 18"/>
          <p:cNvSpPr txBox="1"/>
          <p:nvPr/>
        </p:nvSpPr>
        <p:spPr>
          <a:xfrm>
            <a:off x="1737360" y="4818888"/>
            <a:ext cx="2377440" cy="896112"/>
          </a:xfrm>
          <a:prstGeom prst="rect">
            <a:avLst/>
          </a:prstGeom>
          <a:noFill/>
        </p:spPr>
        <p:txBody>
          <a:bodyPr wrap="square" lIns="0" rIns="0" tIns="0" bIns="0">
            <a:spAutoFit/>
          </a:bodyPr>
          <a:lstStyle/>
          <a:p>
            <a:pPr>
              <a:spcAft>
                <a:spcPts val="500"/>
              </a:spcAft>
              <a:defRPr sz="1500" b="0">
                <a:solidFill>
                  <a:srgbClr val="536976"/>
                </a:solidFill>
                <a:latin typeface="Arial"/>
              </a:defRPr>
            </a:pPr>
            <a:r>
              <a:t>Bosch Center for AI</a:t>
            </a:r>
          </a:p>
          <a:p>
            <a:pPr>
              <a:spcAft>
                <a:spcPts val="500"/>
              </a:spcAft>
              <a:defRPr sz="1500" b="0">
                <a:solidFill>
                  <a:srgbClr val="536976"/>
                </a:solidFill>
                <a:latin typeface="Arial"/>
              </a:defRPr>
            </a:pPr>
            <a:r>
              <a:t>Carnegie Bosch Institute</a:t>
            </a:r>
          </a:p>
        </p:txBody>
      </p:sp>
      <p:pic>
        <p:nvPicPr>
          <p:cNvPr id="20" name="Picture 19" descr="jon.png"/>
          <p:cNvPicPr>
            <a:picLocks noChangeAspect="1"/>
          </p:cNvPicPr>
          <p:nvPr/>
        </p:nvPicPr>
        <p:blipFill>
          <a:blip r:embed="rId7"/>
          <a:srcRect l="8519" r="8519"/>
          <a:stretch>
            <a:fillRect/>
          </a:stretch>
        </p:blipFill>
        <p:spPr>
          <a:xfrm>
            <a:off x="4325112" y="3995928"/>
            <a:ext cx="1024128" cy="1234440"/>
          </a:xfrm>
          <a:prstGeom prst="rect">
            <a:avLst/>
          </a:prstGeom>
        </p:spPr>
      </p:pic>
      <p:sp>
        <p:nvSpPr>
          <p:cNvPr id="21" name="TextBox 20"/>
          <p:cNvSpPr txBox="1"/>
          <p:nvPr/>
        </p:nvSpPr>
        <p:spPr>
          <a:xfrm>
            <a:off x="5513831" y="4041648"/>
            <a:ext cx="2395728" cy="685800"/>
          </a:xfrm>
          <a:prstGeom prst="rect">
            <a:avLst/>
          </a:prstGeom>
          <a:noFill/>
        </p:spPr>
        <p:txBody>
          <a:bodyPr wrap="square" lIns="0" rIns="0" tIns="0" bIns="0">
            <a:spAutoFit/>
          </a:bodyPr>
          <a:lstStyle/>
          <a:p>
            <a:pPr>
              <a:spcAft>
                <a:spcPts val="500"/>
              </a:spcAft>
              <a:defRPr sz="2000" b="1">
                <a:solidFill>
                  <a:srgbClr val="173343"/>
                </a:solidFill>
                <a:latin typeface="Arial"/>
              </a:defRPr>
            </a:pPr>
            <a:r>
              <a:t>Jonathan Francis</a:t>
            </a:r>
          </a:p>
        </p:txBody>
      </p:sp>
      <p:sp>
        <p:nvSpPr>
          <p:cNvPr id="22" name="TextBox 21"/>
          <p:cNvSpPr txBox="1"/>
          <p:nvPr/>
        </p:nvSpPr>
        <p:spPr>
          <a:xfrm>
            <a:off x="5513831" y="4818888"/>
            <a:ext cx="2377440" cy="896112"/>
          </a:xfrm>
          <a:prstGeom prst="rect">
            <a:avLst/>
          </a:prstGeom>
          <a:noFill/>
        </p:spPr>
        <p:txBody>
          <a:bodyPr wrap="square" lIns="0" rIns="0" tIns="0" bIns="0">
            <a:spAutoFit/>
          </a:bodyPr>
          <a:lstStyle/>
          <a:p>
            <a:pPr>
              <a:spcAft>
                <a:spcPts val="500"/>
              </a:spcAft>
              <a:defRPr sz="1500" b="0">
                <a:solidFill>
                  <a:srgbClr val="536976"/>
                </a:solidFill>
                <a:latin typeface="Arial"/>
              </a:defRPr>
            </a:pPr>
            <a:r>
              <a:t>Bosch Center for AI</a:t>
            </a:r>
          </a:p>
          <a:p>
            <a:pPr>
              <a:spcAft>
                <a:spcPts val="500"/>
              </a:spcAft>
              <a:defRPr sz="1500" b="0">
                <a:solidFill>
                  <a:srgbClr val="536976"/>
                </a:solidFill>
                <a:latin typeface="Arial"/>
              </a:defRPr>
            </a:pPr>
            <a:r>
              <a:t>Carnegie Mellon University</a:t>
            </a:r>
          </a:p>
        </p:txBody>
      </p:sp>
      <p:pic>
        <p:nvPicPr>
          <p:cNvPr id="23" name="Picture 22" descr="jean.jpg"/>
          <p:cNvPicPr>
            <a:picLocks noChangeAspect="1"/>
          </p:cNvPicPr>
          <p:nvPr/>
        </p:nvPicPr>
        <p:blipFill>
          <a:blip r:embed="rId8"/>
          <a:srcRect l="8519" r="8519"/>
          <a:stretch>
            <a:fillRect/>
          </a:stretch>
        </p:blipFill>
        <p:spPr>
          <a:xfrm>
            <a:off x="8101583" y="3995928"/>
            <a:ext cx="1024128" cy="1234440"/>
          </a:xfrm>
          <a:prstGeom prst="rect">
            <a:avLst/>
          </a:prstGeom>
        </p:spPr>
      </p:pic>
      <p:sp>
        <p:nvSpPr>
          <p:cNvPr id="24" name="TextBox 23"/>
          <p:cNvSpPr txBox="1"/>
          <p:nvPr/>
        </p:nvSpPr>
        <p:spPr>
          <a:xfrm>
            <a:off x="9290304" y="4041648"/>
            <a:ext cx="2395728" cy="685800"/>
          </a:xfrm>
          <a:prstGeom prst="rect">
            <a:avLst/>
          </a:prstGeom>
          <a:noFill/>
        </p:spPr>
        <p:txBody>
          <a:bodyPr wrap="square" lIns="0" rIns="0" tIns="0" bIns="0">
            <a:spAutoFit/>
          </a:bodyPr>
          <a:lstStyle/>
          <a:p>
            <a:pPr>
              <a:spcAft>
                <a:spcPts val="500"/>
              </a:spcAft>
              <a:defRPr sz="2000" b="1">
                <a:solidFill>
                  <a:srgbClr val="173343"/>
                </a:solidFill>
                <a:latin typeface="Arial"/>
              </a:defRPr>
            </a:pPr>
            <a:r>
              <a:t>Jean Oh</a:t>
            </a:r>
          </a:p>
        </p:txBody>
      </p:sp>
      <p:sp>
        <p:nvSpPr>
          <p:cNvPr id="25" name="TextBox 24"/>
          <p:cNvSpPr txBox="1"/>
          <p:nvPr/>
        </p:nvSpPr>
        <p:spPr>
          <a:xfrm>
            <a:off x="9290304" y="4818888"/>
            <a:ext cx="2377440" cy="896112"/>
          </a:xfrm>
          <a:prstGeom prst="rect">
            <a:avLst/>
          </a:prstGeom>
          <a:noFill/>
        </p:spPr>
        <p:txBody>
          <a:bodyPr wrap="square" lIns="0" rIns="0" tIns="0" bIns="0">
            <a:spAutoFit/>
          </a:bodyPr>
          <a:lstStyle/>
          <a:p>
            <a:pPr>
              <a:spcAft>
                <a:spcPts val="500"/>
              </a:spcAft>
              <a:defRPr sz="1500" b="0">
                <a:solidFill>
                  <a:srgbClr val="536976"/>
                </a:solidFill>
                <a:latin typeface="Arial"/>
              </a:defRPr>
            </a:pPr>
            <a:r>
              <a:t>Carnegie Mellon University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WITH THANKS TO OUR REVIEWERS</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Program committee  /  1 of 2</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03</a:t>
            </a:r>
          </a:p>
        </p:txBody>
      </p:sp>
      <p:sp>
        <p:nvSpPr>
          <p:cNvPr id="8" name="TextBox 7"/>
          <p:cNvSpPr txBox="1"/>
          <p:nvPr/>
        </p:nvSpPr>
        <p:spPr>
          <a:xfrm>
            <a:off x="685800" y="1856231"/>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Aarati Andrea Noronha</a:t>
            </a:r>
          </a:p>
        </p:txBody>
      </p:sp>
      <p:sp>
        <p:nvSpPr>
          <p:cNvPr id="9" name="TextBox 8"/>
          <p:cNvSpPr txBox="1"/>
          <p:nvPr/>
        </p:nvSpPr>
        <p:spPr>
          <a:xfrm>
            <a:off x="685800" y="2226563"/>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Aditya Taparia</a:t>
            </a:r>
          </a:p>
        </p:txBody>
      </p:sp>
      <p:sp>
        <p:nvSpPr>
          <p:cNvPr id="10" name="TextBox 9"/>
          <p:cNvSpPr txBox="1"/>
          <p:nvPr/>
        </p:nvSpPr>
        <p:spPr>
          <a:xfrm>
            <a:off x="685800" y="2596896"/>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Amber Li</a:t>
            </a:r>
          </a:p>
        </p:txBody>
      </p:sp>
      <p:sp>
        <p:nvSpPr>
          <p:cNvPr id="11" name="TextBox 10"/>
          <p:cNvSpPr txBox="1"/>
          <p:nvPr/>
        </p:nvSpPr>
        <p:spPr>
          <a:xfrm>
            <a:off x="685800" y="2967228"/>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Bibit Bianchini</a:t>
            </a:r>
          </a:p>
        </p:txBody>
      </p:sp>
      <p:sp>
        <p:nvSpPr>
          <p:cNvPr id="12" name="TextBox 11"/>
          <p:cNvSpPr txBox="1"/>
          <p:nvPr/>
        </p:nvSpPr>
        <p:spPr>
          <a:xfrm>
            <a:off x="685800" y="3337560"/>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Bowen Li</a:t>
            </a:r>
          </a:p>
        </p:txBody>
      </p:sp>
      <p:sp>
        <p:nvSpPr>
          <p:cNvPr id="13" name="TextBox 12"/>
          <p:cNvSpPr txBox="1"/>
          <p:nvPr/>
        </p:nvSpPr>
        <p:spPr>
          <a:xfrm>
            <a:off x="685800" y="3707891"/>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Carlo Bosio</a:t>
            </a:r>
          </a:p>
        </p:txBody>
      </p:sp>
      <p:sp>
        <p:nvSpPr>
          <p:cNvPr id="14" name="TextBox 13"/>
          <p:cNvSpPr txBox="1"/>
          <p:nvPr/>
        </p:nvSpPr>
        <p:spPr>
          <a:xfrm>
            <a:off x="685800" y="4078224"/>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Chaoyi Xu</a:t>
            </a:r>
          </a:p>
        </p:txBody>
      </p:sp>
      <p:sp>
        <p:nvSpPr>
          <p:cNvPr id="15" name="TextBox 14"/>
          <p:cNvSpPr txBox="1"/>
          <p:nvPr/>
        </p:nvSpPr>
        <p:spPr>
          <a:xfrm>
            <a:off x="685800" y="4448556"/>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David Paulius</a:t>
            </a:r>
          </a:p>
        </p:txBody>
      </p:sp>
      <p:sp>
        <p:nvSpPr>
          <p:cNvPr id="16" name="TextBox 15"/>
          <p:cNvSpPr txBox="1"/>
          <p:nvPr/>
        </p:nvSpPr>
        <p:spPr>
          <a:xfrm>
            <a:off x="685800" y="4818888"/>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Dominic Rosario Maggio</a:t>
            </a:r>
          </a:p>
        </p:txBody>
      </p:sp>
      <p:sp>
        <p:nvSpPr>
          <p:cNvPr id="17" name="TextBox 16"/>
          <p:cNvSpPr txBox="1"/>
          <p:nvPr/>
        </p:nvSpPr>
        <p:spPr>
          <a:xfrm>
            <a:off x="685800" y="5189220"/>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Erdem Biyik</a:t>
            </a:r>
          </a:p>
        </p:txBody>
      </p:sp>
      <p:sp>
        <p:nvSpPr>
          <p:cNvPr id="18" name="TextBox 17"/>
          <p:cNvSpPr txBox="1"/>
          <p:nvPr/>
        </p:nvSpPr>
        <p:spPr>
          <a:xfrm>
            <a:off x="685800" y="5559552"/>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Gonzalo Gonzalez-Pumariega</a:t>
            </a:r>
          </a:p>
        </p:txBody>
      </p:sp>
      <p:sp>
        <p:nvSpPr>
          <p:cNvPr id="19" name="TextBox 18"/>
          <p:cNvSpPr txBox="1"/>
          <p:nvPr/>
        </p:nvSpPr>
        <p:spPr>
          <a:xfrm>
            <a:off x="6400800" y="1856231"/>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Haochen Zhang</a:t>
            </a:r>
          </a:p>
        </p:txBody>
      </p:sp>
      <p:sp>
        <p:nvSpPr>
          <p:cNvPr id="20" name="TextBox 19"/>
          <p:cNvSpPr txBox="1"/>
          <p:nvPr/>
        </p:nvSpPr>
        <p:spPr>
          <a:xfrm>
            <a:off x="6400800" y="2226563"/>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Haokun Zhu</a:t>
            </a:r>
          </a:p>
        </p:txBody>
      </p:sp>
      <p:sp>
        <p:nvSpPr>
          <p:cNvPr id="21" name="TextBox 20"/>
          <p:cNvSpPr txBox="1"/>
          <p:nvPr/>
        </p:nvSpPr>
        <p:spPr>
          <a:xfrm>
            <a:off x="6400800" y="2596896"/>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Huaxiaoyue Wang</a:t>
            </a:r>
          </a:p>
        </p:txBody>
      </p:sp>
      <p:sp>
        <p:nvSpPr>
          <p:cNvPr id="22" name="TextBox 21"/>
          <p:cNvSpPr txBox="1"/>
          <p:nvPr/>
        </p:nvSpPr>
        <p:spPr>
          <a:xfrm>
            <a:off x="6400800" y="2967228"/>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Jay Patrikar</a:t>
            </a:r>
          </a:p>
        </p:txBody>
      </p:sp>
      <p:sp>
        <p:nvSpPr>
          <p:cNvPr id="23" name="TextBox 22"/>
          <p:cNvSpPr txBox="1"/>
          <p:nvPr/>
        </p:nvSpPr>
        <p:spPr>
          <a:xfrm>
            <a:off x="6400800" y="3337560"/>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Jay Vakil</a:t>
            </a:r>
          </a:p>
        </p:txBody>
      </p:sp>
      <p:sp>
        <p:nvSpPr>
          <p:cNvPr id="24" name="TextBox 23"/>
          <p:cNvSpPr txBox="1"/>
          <p:nvPr/>
        </p:nvSpPr>
        <p:spPr>
          <a:xfrm>
            <a:off x="6400800" y="3707891"/>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Jenai Xuning Yang</a:t>
            </a:r>
          </a:p>
        </p:txBody>
      </p:sp>
      <p:sp>
        <p:nvSpPr>
          <p:cNvPr id="25" name="TextBox 24"/>
          <p:cNvSpPr txBox="1"/>
          <p:nvPr/>
        </p:nvSpPr>
        <p:spPr>
          <a:xfrm>
            <a:off x="6400800" y="4078224"/>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Karthik Paga</a:t>
            </a:r>
          </a:p>
        </p:txBody>
      </p:sp>
      <p:sp>
        <p:nvSpPr>
          <p:cNvPr id="26" name="TextBox 25"/>
          <p:cNvSpPr txBox="1"/>
          <p:nvPr/>
        </p:nvSpPr>
        <p:spPr>
          <a:xfrm>
            <a:off x="6400800" y="4448556"/>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Kiyn Chin</a:t>
            </a:r>
          </a:p>
        </p:txBody>
      </p:sp>
      <p:sp>
        <p:nvSpPr>
          <p:cNvPr id="27" name="TextBox 26"/>
          <p:cNvSpPr txBox="1"/>
          <p:nvPr/>
        </p:nvSpPr>
        <p:spPr>
          <a:xfrm>
            <a:off x="6400800" y="4818888"/>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Lukas Rosenberger Schmid</a:t>
            </a:r>
          </a:p>
        </p:txBody>
      </p:sp>
      <p:sp>
        <p:nvSpPr>
          <p:cNvPr id="28" name="TextBox 27"/>
          <p:cNvSpPr txBox="1"/>
          <p:nvPr/>
        </p:nvSpPr>
        <p:spPr>
          <a:xfrm>
            <a:off x="6400800" y="5189220"/>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Matteo Merler</a:t>
            </a:r>
          </a:p>
        </p:txBody>
      </p:sp>
      <p:sp>
        <p:nvSpPr>
          <p:cNvPr id="29" name="TextBox 28"/>
          <p:cNvSpPr txBox="1"/>
          <p:nvPr/>
        </p:nvSpPr>
        <p:spPr>
          <a:xfrm>
            <a:off x="6400800" y="5559552"/>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Michelle D Zhao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WITH THANKS TO OUR REVIEWERS</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Program committee  /  2 of 2</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04</a:t>
            </a:r>
          </a:p>
        </p:txBody>
      </p:sp>
      <p:sp>
        <p:nvSpPr>
          <p:cNvPr id="8" name="TextBox 7"/>
          <p:cNvSpPr txBox="1"/>
          <p:nvPr/>
        </p:nvSpPr>
        <p:spPr>
          <a:xfrm>
            <a:off x="685800" y="1856231"/>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Muhammet Yunus Seker</a:t>
            </a:r>
          </a:p>
        </p:txBody>
      </p:sp>
      <p:sp>
        <p:nvSpPr>
          <p:cNvPr id="9" name="TextBox 8"/>
          <p:cNvSpPr txBox="1"/>
          <p:nvPr/>
        </p:nvSpPr>
        <p:spPr>
          <a:xfrm>
            <a:off x="685800" y="2226563"/>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Peter Schaldenbrand</a:t>
            </a:r>
          </a:p>
        </p:txBody>
      </p:sp>
      <p:sp>
        <p:nvSpPr>
          <p:cNvPr id="10" name="TextBox 9"/>
          <p:cNvSpPr txBox="1"/>
          <p:nvPr/>
        </p:nvSpPr>
        <p:spPr>
          <a:xfrm>
            <a:off x="685800" y="2596896"/>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Priya Shukla</a:t>
            </a:r>
          </a:p>
        </p:txBody>
      </p:sp>
      <p:sp>
        <p:nvSpPr>
          <p:cNvPr id="11" name="TextBox 10"/>
          <p:cNvSpPr txBox="1"/>
          <p:nvPr/>
        </p:nvSpPr>
        <p:spPr>
          <a:xfrm>
            <a:off x="685800" y="2967228"/>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Rebecca Martin</a:t>
            </a:r>
          </a:p>
        </p:txBody>
      </p:sp>
      <p:sp>
        <p:nvSpPr>
          <p:cNvPr id="12" name="TextBox 11"/>
          <p:cNvSpPr txBox="1"/>
          <p:nvPr/>
        </p:nvSpPr>
        <p:spPr>
          <a:xfrm>
            <a:off x="685800" y="3337560"/>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Revanth Krishna Senthilkumaran</a:t>
            </a:r>
          </a:p>
        </p:txBody>
      </p:sp>
      <p:sp>
        <p:nvSpPr>
          <p:cNvPr id="13" name="TextBox 12"/>
          <p:cNvSpPr txBox="1"/>
          <p:nvPr/>
        </p:nvSpPr>
        <p:spPr>
          <a:xfrm>
            <a:off x="685800" y="3707891"/>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Roman Freiberg</a:t>
            </a:r>
          </a:p>
        </p:txBody>
      </p:sp>
      <p:sp>
        <p:nvSpPr>
          <p:cNvPr id="14" name="TextBox 13"/>
          <p:cNvSpPr txBox="1"/>
          <p:nvPr/>
        </p:nvSpPr>
        <p:spPr>
          <a:xfrm>
            <a:off x="685800" y="4078224"/>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Ruchira Ray</a:t>
            </a:r>
          </a:p>
        </p:txBody>
      </p:sp>
      <p:sp>
        <p:nvSpPr>
          <p:cNvPr id="15" name="TextBox 14"/>
          <p:cNvSpPr txBox="1"/>
          <p:nvPr/>
        </p:nvSpPr>
        <p:spPr>
          <a:xfrm>
            <a:off x="685800" y="4448556"/>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Ruwan Wickramarachchi</a:t>
            </a:r>
          </a:p>
        </p:txBody>
      </p:sp>
      <p:sp>
        <p:nvSpPr>
          <p:cNvPr id="16" name="TextBox 15"/>
          <p:cNvSpPr txBox="1"/>
          <p:nvPr/>
        </p:nvSpPr>
        <p:spPr>
          <a:xfrm>
            <a:off x="685800" y="4818888"/>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Shailesh Shailesh</a:t>
            </a:r>
          </a:p>
        </p:txBody>
      </p:sp>
      <p:sp>
        <p:nvSpPr>
          <p:cNvPr id="17" name="TextBox 16"/>
          <p:cNvSpPr txBox="1"/>
          <p:nvPr/>
        </p:nvSpPr>
        <p:spPr>
          <a:xfrm>
            <a:off x="685800" y="5189220"/>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Shir Simon</a:t>
            </a:r>
          </a:p>
        </p:txBody>
      </p:sp>
      <p:sp>
        <p:nvSpPr>
          <p:cNvPr id="18" name="TextBox 17"/>
          <p:cNvSpPr txBox="1"/>
          <p:nvPr/>
        </p:nvSpPr>
        <p:spPr>
          <a:xfrm>
            <a:off x="685800" y="5559552"/>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Simin Liu</a:t>
            </a:r>
          </a:p>
        </p:txBody>
      </p:sp>
      <p:sp>
        <p:nvSpPr>
          <p:cNvPr id="19" name="TextBox 18"/>
          <p:cNvSpPr txBox="1"/>
          <p:nvPr/>
        </p:nvSpPr>
        <p:spPr>
          <a:xfrm>
            <a:off x="6400800" y="1856231"/>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Weiwei Gu</a:t>
            </a:r>
          </a:p>
        </p:txBody>
      </p:sp>
      <p:sp>
        <p:nvSpPr>
          <p:cNvPr id="20" name="TextBox 19"/>
          <p:cNvSpPr txBox="1"/>
          <p:nvPr/>
        </p:nvSpPr>
        <p:spPr>
          <a:xfrm>
            <a:off x="6400800" y="2226563"/>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Y. Isabel Liu</a:t>
            </a:r>
          </a:p>
        </p:txBody>
      </p:sp>
      <p:sp>
        <p:nvSpPr>
          <p:cNvPr id="21" name="TextBox 20"/>
          <p:cNvSpPr txBox="1"/>
          <p:nvPr/>
        </p:nvSpPr>
        <p:spPr>
          <a:xfrm>
            <a:off x="6400800" y="2596896"/>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Yaru Niu</a:t>
            </a:r>
          </a:p>
        </p:txBody>
      </p:sp>
      <p:sp>
        <p:nvSpPr>
          <p:cNvPr id="22" name="TextBox 21"/>
          <p:cNvSpPr txBox="1"/>
          <p:nvPr/>
        </p:nvSpPr>
        <p:spPr>
          <a:xfrm>
            <a:off x="6400800" y="2967228"/>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Yichao Liang</a:t>
            </a:r>
          </a:p>
        </p:txBody>
      </p:sp>
      <p:sp>
        <p:nvSpPr>
          <p:cNvPr id="23" name="TextBox 22"/>
          <p:cNvSpPr txBox="1"/>
          <p:nvPr/>
        </p:nvSpPr>
        <p:spPr>
          <a:xfrm>
            <a:off x="6400800" y="3337560"/>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Yilun Hao</a:t>
            </a:r>
          </a:p>
        </p:txBody>
      </p:sp>
      <p:sp>
        <p:nvSpPr>
          <p:cNvPr id="24" name="TextBox 23"/>
          <p:cNvSpPr txBox="1"/>
          <p:nvPr/>
        </p:nvSpPr>
        <p:spPr>
          <a:xfrm>
            <a:off x="6400800" y="3707891"/>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Yiyang Ling</a:t>
            </a:r>
          </a:p>
        </p:txBody>
      </p:sp>
      <p:sp>
        <p:nvSpPr>
          <p:cNvPr id="25" name="TextBox 24"/>
          <p:cNvSpPr txBox="1"/>
          <p:nvPr/>
        </p:nvSpPr>
        <p:spPr>
          <a:xfrm>
            <a:off x="6400800" y="4078224"/>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Yuemin Mao</a:t>
            </a:r>
          </a:p>
        </p:txBody>
      </p:sp>
      <p:sp>
        <p:nvSpPr>
          <p:cNvPr id="26" name="TextBox 25"/>
          <p:cNvSpPr txBox="1"/>
          <p:nvPr/>
        </p:nvSpPr>
        <p:spPr>
          <a:xfrm>
            <a:off x="6400800" y="4448556"/>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Yufei Ding</a:t>
            </a:r>
          </a:p>
        </p:txBody>
      </p:sp>
      <p:sp>
        <p:nvSpPr>
          <p:cNvPr id="27" name="TextBox 26"/>
          <p:cNvSpPr txBox="1"/>
          <p:nvPr/>
        </p:nvSpPr>
        <p:spPr>
          <a:xfrm>
            <a:off x="6400800" y="4818888"/>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Zhiting Mei</a:t>
            </a:r>
          </a:p>
        </p:txBody>
      </p:sp>
      <p:sp>
        <p:nvSpPr>
          <p:cNvPr id="28" name="TextBox 27"/>
          <p:cNvSpPr txBox="1"/>
          <p:nvPr/>
        </p:nvSpPr>
        <p:spPr>
          <a:xfrm>
            <a:off x="6400800" y="5189220"/>
            <a:ext cx="5212080" cy="329184"/>
          </a:xfrm>
          <a:prstGeom prst="rect">
            <a:avLst/>
          </a:prstGeom>
          <a:noFill/>
        </p:spPr>
        <p:txBody>
          <a:bodyPr wrap="square" lIns="0" rIns="0" tIns="0" bIns="0">
            <a:spAutoFit/>
          </a:bodyPr>
          <a:lstStyle/>
          <a:p>
            <a:pPr>
              <a:spcAft>
                <a:spcPts val="500"/>
              </a:spcAft>
              <a:defRPr sz="2100" b="0">
                <a:solidFill>
                  <a:srgbClr val="173343"/>
                </a:solidFill>
                <a:latin typeface="Arial"/>
              </a:defRPr>
            </a:pPr>
            <a:r>
              <a:t>Zhuoran Chen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WHY WE ARE HERE</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From capable robots to dependable robots</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05</a:t>
            </a:r>
          </a:p>
        </p:txBody>
      </p:sp>
      <p:sp>
        <p:nvSpPr>
          <p:cNvPr id="8" name="TextBox 7"/>
          <p:cNvSpPr txBox="1"/>
          <p:nvPr/>
        </p:nvSpPr>
        <p:spPr>
          <a:xfrm>
            <a:off x="594360" y="1828800"/>
            <a:ext cx="10881360" cy="594360"/>
          </a:xfrm>
          <a:prstGeom prst="rect">
            <a:avLst/>
          </a:prstGeom>
          <a:noFill/>
        </p:spPr>
        <p:txBody>
          <a:bodyPr wrap="square" lIns="0" rIns="0" tIns="0" bIns="0">
            <a:spAutoFit/>
          </a:bodyPr>
          <a:lstStyle/>
          <a:p>
            <a:pPr>
              <a:spcAft>
                <a:spcPts val="500"/>
              </a:spcAft>
              <a:defRPr sz="3100" b="1">
                <a:solidFill>
                  <a:srgbClr val="007E86"/>
                </a:solidFill>
                <a:latin typeface="Arial"/>
              </a:defRPr>
            </a:pPr>
            <a:r>
              <a:t>Learning expands what robots can do.</a:t>
            </a:r>
          </a:p>
        </p:txBody>
      </p:sp>
      <p:sp>
        <p:nvSpPr>
          <p:cNvPr id="9" name="TextBox 8"/>
          <p:cNvSpPr txBox="1"/>
          <p:nvPr/>
        </p:nvSpPr>
        <p:spPr>
          <a:xfrm>
            <a:off x="594360" y="2697480"/>
            <a:ext cx="10698480" cy="1234440"/>
          </a:xfrm>
          <a:prstGeom prst="rect">
            <a:avLst/>
          </a:prstGeom>
          <a:noFill/>
        </p:spPr>
        <p:txBody>
          <a:bodyPr wrap="square" lIns="0" rIns="0" tIns="0" bIns="0">
            <a:spAutoFit/>
          </a:bodyPr>
          <a:lstStyle/>
          <a:p>
            <a:pPr>
              <a:spcAft>
                <a:spcPts val="500"/>
              </a:spcAft>
              <a:defRPr sz="2900" b="0">
                <a:solidFill>
                  <a:srgbClr val="173343"/>
                </a:solidFill>
                <a:latin typeface="Arial"/>
              </a:defRPr>
            </a:pPr>
            <a:r>
              <a:t>Real-world deployment also demands reasoning about tasks, physical constraints, safety, and incomplete information.</a:t>
            </a:r>
          </a:p>
        </p:txBody>
      </p:sp>
      <p:sp>
        <p:nvSpPr>
          <p:cNvPr id="10" name="Rounded Rectangle 9"/>
          <p:cNvSpPr/>
          <p:nvPr/>
        </p:nvSpPr>
        <p:spPr>
          <a:xfrm>
            <a:off x="594360" y="4389120"/>
            <a:ext cx="3538728" cy="1371600"/>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590288"/>
            <a:ext cx="3154680"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Reliable</a:t>
            </a:r>
          </a:p>
        </p:txBody>
      </p:sp>
      <p:sp>
        <p:nvSpPr>
          <p:cNvPr id="12" name="TextBox 11"/>
          <p:cNvSpPr txBox="1"/>
          <p:nvPr/>
        </p:nvSpPr>
        <p:spPr>
          <a:xfrm>
            <a:off x="777240" y="5074920"/>
            <a:ext cx="3154680" cy="594360"/>
          </a:xfrm>
          <a:prstGeom prst="rect">
            <a:avLst/>
          </a:prstGeom>
          <a:noFill/>
        </p:spPr>
        <p:txBody>
          <a:bodyPr wrap="square" lIns="0" rIns="0" tIns="0" bIns="0">
            <a:spAutoFit/>
          </a:bodyPr>
          <a:lstStyle/>
          <a:p>
            <a:pPr>
              <a:spcAft>
                <a:spcPts val="500"/>
              </a:spcAft>
              <a:defRPr sz="1800" b="0">
                <a:solidFill>
                  <a:srgbClr val="173343"/>
                </a:solidFill>
                <a:latin typeface="Arial"/>
              </a:defRPr>
            </a:pPr>
            <a:r>
              <a:t>Feasible behavior under changing conditions</a:t>
            </a:r>
          </a:p>
        </p:txBody>
      </p:sp>
      <p:sp>
        <p:nvSpPr>
          <p:cNvPr id="13" name="Rounded Rectangle 12"/>
          <p:cNvSpPr/>
          <p:nvPr/>
        </p:nvSpPr>
        <p:spPr>
          <a:xfrm>
            <a:off x="4361688" y="4389120"/>
            <a:ext cx="3538728" cy="1371600"/>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4590288"/>
            <a:ext cx="3154680"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Adaptable</a:t>
            </a:r>
          </a:p>
        </p:txBody>
      </p:sp>
      <p:sp>
        <p:nvSpPr>
          <p:cNvPr id="15" name="TextBox 14"/>
          <p:cNvSpPr txBox="1"/>
          <p:nvPr/>
        </p:nvSpPr>
        <p:spPr>
          <a:xfrm>
            <a:off x="4544568" y="5074920"/>
            <a:ext cx="3154680" cy="594360"/>
          </a:xfrm>
          <a:prstGeom prst="rect">
            <a:avLst/>
          </a:prstGeom>
          <a:noFill/>
        </p:spPr>
        <p:txBody>
          <a:bodyPr wrap="square" lIns="0" rIns="0" tIns="0" bIns="0">
            <a:spAutoFit/>
          </a:bodyPr>
          <a:lstStyle/>
          <a:p>
            <a:pPr>
              <a:spcAft>
                <a:spcPts val="500"/>
              </a:spcAft>
              <a:defRPr sz="1800" b="0">
                <a:solidFill>
                  <a:srgbClr val="173343"/>
                </a:solidFill>
                <a:latin typeface="Arial"/>
              </a:defRPr>
            </a:pPr>
            <a:r>
              <a:t>Learning and recovery beyond familiar situations</a:t>
            </a:r>
          </a:p>
        </p:txBody>
      </p:sp>
      <p:sp>
        <p:nvSpPr>
          <p:cNvPr id="16" name="Rounded Rectangle 15"/>
          <p:cNvSpPr/>
          <p:nvPr/>
        </p:nvSpPr>
        <p:spPr>
          <a:xfrm>
            <a:off x="8129016" y="4389120"/>
            <a:ext cx="3538728" cy="1371600"/>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4590288"/>
            <a:ext cx="3154680"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Trustworthy</a:t>
            </a:r>
          </a:p>
        </p:txBody>
      </p:sp>
      <p:sp>
        <p:nvSpPr>
          <p:cNvPr id="18" name="TextBox 17"/>
          <p:cNvSpPr txBox="1"/>
          <p:nvPr/>
        </p:nvSpPr>
        <p:spPr>
          <a:xfrm>
            <a:off x="8311896" y="5074920"/>
            <a:ext cx="3154680" cy="594360"/>
          </a:xfrm>
          <a:prstGeom prst="rect">
            <a:avLst/>
          </a:prstGeom>
          <a:noFill/>
        </p:spPr>
        <p:txBody>
          <a:bodyPr wrap="square" lIns="0" rIns="0" tIns="0" bIns="0">
            <a:spAutoFit/>
          </a:bodyPr>
          <a:lstStyle/>
          <a:p>
            <a:pPr>
              <a:spcAft>
                <a:spcPts val="500"/>
              </a:spcAft>
              <a:defRPr sz="1800" b="0">
                <a:solidFill>
                  <a:srgbClr val="173343"/>
                </a:solidFill>
                <a:latin typeface="Arial"/>
              </a:defRPr>
            </a:pPr>
            <a:r>
              <a:t>Interpretable, constraint-aware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THE EMBODIED NEURO-SYMBOLIC WORKFLOW</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Ground. Reason. Adapt.</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06</a:t>
            </a:r>
          </a:p>
        </p:txBody>
      </p:sp>
      <p:sp>
        <p:nvSpPr>
          <p:cNvPr id="8" name="Rounded Rectangle 7"/>
          <p:cNvSpPr/>
          <p:nvPr/>
        </p:nvSpPr>
        <p:spPr>
          <a:xfrm>
            <a:off x="594360" y="1874519"/>
            <a:ext cx="3538728" cy="3429000"/>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903427" y="2247595"/>
            <a:ext cx="271577" cy="296265"/>
          </a:xfrm>
          <a:prstGeom prst="line">
            <a:avLst/>
          </a:prstGeom>
          <a:ln w="25400">
            <a:solidFill>
              <a:srgbClr val="007E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175004" y="2272284"/>
            <a:ext cx="255117" cy="271576"/>
          </a:xfrm>
          <a:prstGeom prst="line">
            <a:avLst/>
          </a:prstGeom>
          <a:ln w="25400">
            <a:solidFill>
              <a:srgbClr val="007E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903427" y="2543860"/>
            <a:ext cx="271577" cy="263348"/>
          </a:xfrm>
          <a:prstGeom prst="line">
            <a:avLst/>
          </a:prstGeom>
          <a:ln w="25400">
            <a:solidFill>
              <a:srgbClr val="007E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75004" y="2543860"/>
            <a:ext cx="288036" cy="263348"/>
          </a:xfrm>
          <a:prstGeom prst="line">
            <a:avLst/>
          </a:prstGeom>
          <a:ln w="25400">
            <a:solidFill>
              <a:srgbClr val="007E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03427" y="2247595"/>
            <a:ext cx="526694" cy="24689"/>
          </a:xfrm>
          <a:prstGeom prst="line">
            <a:avLst/>
          </a:prstGeom>
          <a:ln w="25400">
            <a:solidFill>
              <a:srgbClr val="007E8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49934" y="2194102"/>
            <a:ext cx="106984" cy="106984"/>
          </a:xfrm>
          <a:prstGeom prst="ellipse">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376629" y="2218791"/>
            <a:ext cx="106984" cy="106984"/>
          </a:xfrm>
          <a:prstGeom prst="ellipse">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21511" y="2490368"/>
            <a:ext cx="106984" cy="106984"/>
          </a:xfrm>
          <a:prstGeom prst="ellipse">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9934" y="2753715"/>
            <a:ext cx="106984" cy="106984"/>
          </a:xfrm>
          <a:prstGeom prst="ellipse">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09547" y="2753715"/>
            <a:ext cx="106984" cy="106984"/>
          </a:xfrm>
          <a:prstGeom prst="ellipse">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 y="3246120"/>
            <a:ext cx="3063240" cy="713232"/>
          </a:xfrm>
          <a:prstGeom prst="rect">
            <a:avLst/>
          </a:prstGeom>
          <a:noFill/>
        </p:spPr>
        <p:txBody>
          <a:bodyPr wrap="square" lIns="0" rIns="0" tIns="0" bIns="0">
            <a:spAutoFit/>
          </a:bodyPr>
          <a:lstStyle/>
          <a:p>
            <a:pPr>
              <a:spcAft>
                <a:spcPts val="500"/>
              </a:spcAft>
              <a:defRPr sz="2500" b="1">
                <a:solidFill>
                  <a:srgbClr val="173343"/>
                </a:solidFill>
                <a:latin typeface="Arial"/>
              </a:defRPr>
            </a:pPr>
            <a:r>
              <a:t>Ground observations</a:t>
            </a:r>
          </a:p>
        </p:txBody>
      </p:sp>
      <p:sp>
        <p:nvSpPr>
          <p:cNvPr id="20" name="TextBox 19"/>
          <p:cNvSpPr txBox="1"/>
          <p:nvPr/>
        </p:nvSpPr>
        <p:spPr>
          <a:xfrm>
            <a:off x="813816" y="4114800"/>
            <a:ext cx="3063240" cy="1005840"/>
          </a:xfrm>
          <a:prstGeom prst="rect">
            <a:avLst/>
          </a:prstGeom>
          <a:noFill/>
        </p:spPr>
        <p:txBody>
          <a:bodyPr wrap="square" lIns="0" rIns="0" tIns="0" bIns="0">
            <a:spAutoFit/>
          </a:bodyPr>
          <a:lstStyle/>
          <a:p>
            <a:pPr>
              <a:spcAft>
                <a:spcPts val="500"/>
              </a:spcAft>
              <a:defRPr sz="2100" b="0">
                <a:solidFill>
                  <a:srgbClr val="173343"/>
                </a:solidFill>
                <a:latin typeface="Arial"/>
              </a:defRPr>
            </a:pPr>
            <a:r>
              <a:t>Objects, relations, and task-relevant constraints</a:t>
            </a:r>
          </a:p>
        </p:txBody>
      </p:sp>
      <p:sp>
        <p:nvSpPr>
          <p:cNvPr id="21" name="Rounded Rectangle 20"/>
          <p:cNvSpPr/>
          <p:nvPr/>
        </p:nvSpPr>
        <p:spPr>
          <a:xfrm>
            <a:off x="4361688" y="1874519"/>
            <a:ext cx="3538728" cy="3429000"/>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13148" y="2247595"/>
            <a:ext cx="222199" cy="181051"/>
          </a:xfrm>
          <a:prstGeom prst="roundRect">
            <a:avLst>
              <a:gd name="adj" fmla="val 8000"/>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613148" y="2724912"/>
            <a:ext cx="222199" cy="181051"/>
          </a:xfrm>
          <a:prstGeom prst="roundRect">
            <a:avLst>
              <a:gd name="adj" fmla="val 8000"/>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31612" y="2486253"/>
            <a:ext cx="222199" cy="181051"/>
          </a:xfrm>
          <a:prstGeom prst="roundRect">
            <a:avLst>
              <a:gd name="adj" fmla="val 8000"/>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4835347" y="2338120"/>
            <a:ext cx="296265" cy="238659"/>
          </a:xfrm>
          <a:prstGeom prst="line">
            <a:avLst/>
          </a:prstGeom>
          <a:ln w="25400">
            <a:solidFill>
              <a:srgbClr val="007E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835347" y="2576779"/>
            <a:ext cx="296265" cy="238658"/>
          </a:xfrm>
          <a:prstGeom prst="line">
            <a:avLst/>
          </a:prstGeom>
          <a:ln w="25400">
            <a:solidFill>
              <a:srgbClr val="007E8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81144" y="3246120"/>
            <a:ext cx="3063240" cy="713232"/>
          </a:xfrm>
          <a:prstGeom prst="rect">
            <a:avLst/>
          </a:prstGeom>
          <a:noFill/>
        </p:spPr>
        <p:txBody>
          <a:bodyPr wrap="square" lIns="0" rIns="0" tIns="0" bIns="0">
            <a:spAutoFit/>
          </a:bodyPr>
          <a:lstStyle/>
          <a:p>
            <a:pPr>
              <a:spcAft>
                <a:spcPts val="500"/>
              </a:spcAft>
              <a:defRPr sz="2500" b="1">
                <a:solidFill>
                  <a:srgbClr val="173343"/>
                </a:solidFill>
                <a:latin typeface="Arial"/>
              </a:defRPr>
            </a:pPr>
            <a:r>
              <a:t>Reason over knowledge</a:t>
            </a:r>
          </a:p>
        </p:txBody>
      </p:sp>
      <p:sp>
        <p:nvSpPr>
          <p:cNvPr id="28" name="TextBox 27"/>
          <p:cNvSpPr txBox="1"/>
          <p:nvPr/>
        </p:nvSpPr>
        <p:spPr>
          <a:xfrm>
            <a:off x="4581144" y="4114800"/>
            <a:ext cx="3063240" cy="1005840"/>
          </a:xfrm>
          <a:prstGeom prst="rect">
            <a:avLst/>
          </a:prstGeom>
          <a:noFill/>
        </p:spPr>
        <p:txBody>
          <a:bodyPr wrap="square" lIns="0" rIns="0" tIns="0" bIns="0">
            <a:spAutoFit/>
          </a:bodyPr>
          <a:lstStyle/>
          <a:p>
            <a:pPr>
              <a:spcAft>
                <a:spcPts val="500"/>
              </a:spcAft>
              <a:defRPr sz="2100" b="0">
                <a:solidFill>
                  <a:srgbClr val="173343"/>
                </a:solidFill>
                <a:latin typeface="Arial"/>
              </a:defRPr>
            </a:pPr>
            <a:r>
              <a:t>Skills, tasks, environments, and safety requirements</a:t>
            </a:r>
          </a:p>
        </p:txBody>
      </p:sp>
      <p:sp>
        <p:nvSpPr>
          <p:cNvPr id="29" name="Rounded Rectangle 28"/>
          <p:cNvSpPr/>
          <p:nvPr/>
        </p:nvSpPr>
        <p:spPr>
          <a:xfrm>
            <a:off x="8129016" y="1874519"/>
            <a:ext cx="3538728" cy="3429000"/>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ircular Arrow 29"/>
          <p:cNvSpPr/>
          <p:nvPr/>
        </p:nvSpPr>
        <p:spPr>
          <a:xfrm>
            <a:off x="8339328" y="2148840"/>
            <a:ext cx="822960" cy="822960"/>
          </a:xfrm>
          <a:prstGeom prst="circularArrow">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8472" y="3246120"/>
            <a:ext cx="3063240" cy="713232"/>
          </a:xfrm>
          <a:prstGeom prst="rect">
            <a:avLst/>
          </a:prstGeom>
          <a:noFill/>
        </p:spPr>
        <p:txBody>
          <a:bodyPr wrap="square" lIns="0" rIns="0" tIns="0" bIns="0">
            <a:spAutoFit/>
          </a:bodyPr>
          <a:lstStyle/>
          <a:p>
            <a:pPr>
              <a:spcAft>
                <a:spcPts val="500"/>
              </a:spcAft>
              <a:defRPr sz="2500" b="1">
                <a:solidFill>
                  <a:srgbClr val="173343"/>
                </a:solidFill>
                <a:latin typeface="Arial"/>
              </a:defRPr>
            </a:pPr>
            <a:r>
              <a:t>Adapt through learning</a:t>
            </a:r>
          </a:p>
        </p:txBody>
      </p:sp>
      <p:sp>
        <p:nvSpPr>
          <p:cNvPr id="32" name="TextBox 31"/>
          <p:cNvSpPr txBox="1"/>
          <p:nvPr/>
        </p:nvSpPr>
        <p:spPr>
          <a:xfrm>
            <a:off x="8348472" y="4114800"/>
            <a:ext cx="3063240" cy="1005840"/>
          </a:xfrm>
          <a:prstGeom prst="rect">
            <a:avLst/>
          </a:prstGeom>
          <a:noFill/>
        </p:spPr>
        <p:txBody>
          <a:bodyPr wrap="square" lIns="0" rIns="0" tIns="0" bIns="0">
            <a:spAutoFit/>
          </a:bodyPr>
          <a:lstStyle/>
          <a:p>
            <a:pPr>
              <a:spcAft>
                <a:spcPts val="500"/>
              </a:spcAft>
              <a:defRPr sz="2100" b="0">
                <a:solidFill>
                  <a:srgbClr val="173343"/>
                </a:solidFill>
                <a:latin typeface="Arial"/>
              </a:defRPr>
            </a:pPr>
            <a:r>
              <a:t>Interpretable behavior that remains aware of constraints</a:t>
            </a:r>
          </a:p>
        </p:txBody>
      </p:sp>
      <p:sp>
        <p:nvSpPr>
          <p:cNvPr id="33" name="TextBox 32"/>
          <p:cNvSpPr txBox="1"/>
          <p:nvPr/>
        </p:nvSpPr>
        <p:spPr>
          <a:xfrm>
            <a:off x="594360" y="5641848"/>
            <a:ext cx="10972800" cy="457200"/>
          </a:xfrm>
          <a:prstGeom prst="rect">
            <a:avLst/>
          </a:prstGeom>
          <a:noFill/>
        </p:spPr>
        <p:txBody>
          <a:bodyPr wrap="square" lIns="0" rIns="0" tIns="0" bIns="0">
            <a:spAutoFit/>
          </a:bodyPr>
          <a:lstStyle/>
          <a:p>
            <a:pPr>
              <a:spcAft>
                <a:spcPts val="500"/>
              </a:spcAft>
              <a:defRPr sz="2300" b="1">
                <a:solidFill>
                  <a:srgbClr val="007E86"/>
                </a:solidFill>
                <a:latin typeface="Arial"/>
              </a:defRPr>
            </a:pPr>
            <a:r>
              <a:t>Neural learning  +  structured representations  +  symbolic reasoning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RESEARCH QUESTIONS</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Questions to carry into today’s discussions</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07</a:t>
            </a:r>
          </a:p>
        </p:txBody>
      </p:sp>
      <p:sp>
        <p:nvSpPr>
          <p:cNvPr id="8" name="Oval 7"/>
          <p:cNvSpPr/>
          <p:nvPr/>
        </p:nvSpPr>
        <p:spPr>
          <a:xfrm>
            <a:off x="640080" y="1874519"/>
            <a:ext cx="393192" cy="393192"/>
          </a:xfrm>
          <a:prstGeom prst="ellipse">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11095"/>
            <a:ext cx="393192" cy="274320"/>
          </a:xfrm>
          <a:prstGeom prst="rect">
            <a:avLst/>
          </a:prstGeom>
          <a:noFill/>
        </p:spPr>
        <p:txBody>
          <a:bodyPr wrap="square" lIns="0" rIns="0" tIns="0" bIns="0">
            <a:spAutoFit/>
          </a:bodyPr>
          <a:lstStyle/>
          <a:p>
            <a:pPr algn="ctr">
              <a:spcAft>
                <a:spcPts val="500"/>
              </a:spcAft>
              <a:defRPr sz="1600" b="1">
                <a:solidFill>
                  <a:srgbClr val="FFFFFF"/>
                </a:solidFill>
                <a:latin typeface="Arial"/>
              </a:defRPr>
            </a:pPr>
            <a:r>
              <a:t>1</a:t>
            </a:r>
          </a:p>
        </p:txBody>
      </p:sp>
      <p:sp>
        <p:nvSpPr>
          <p:cNvPr id="10" name="TextBox 9"/>
          <p:cNvSpPr txBox="1"/>
          <p:nvPr/>
        </p:nvSpPr>
        <p:spPr>
          <a:xfrm>
            <a:off x="1298448" y="1828800"/>
            <a:ext cx="10058400" cy="731520"/>
          </a:xfrm>
          <a:prstGeom prst="rect">
            <a:avLst/>
          </a:prstGeom>
          <a:noFill/>
        </p:spPr>
        <p:txBody>
          <a:bodyPr wrap="square" lIns="0" rIns="0" tIns="0" bIns="0">
            <a:spAutoFit/>
          </a:bodyPr>
          <a:lstStyle/>
          <a:p>
            <a:pPr>
              <a:spcAft>
                <a:spcPts val="500"/>
              </a:spcAft>
              <a:defRPr sz="2500" b="0">
                <a:solidFill>
                  <a:srgbClr val="173343"/>
                </a:solidFill>
                <a:latin typeface="Arial"/>
              </a:defRPr>
            </a:pPr>
            <a:r>
              <a:t>What should a robot represent explicitly—and what should it learn?</a:t>
            </a:r>
          </a:p>
        </p:txBody>
      </p:sp>
      <p:sp>
        <p:nvSpPr>
          <p:cNvPr id="11" name="Oval 10"/>
          <p:cNvSpPr/>
          <p:nvPr/>
        </p:nvSpPr>
        <p:spPr>
          <a:xfrm>
            <a:off x="640080" y="2862072"/>
            <a:ext cx="393192" cy="393192"/>
          </a:xfrm>
          <a:prstGeom prst="ellipse">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898648"/>
            <a:ext cx="393192" cy="274320"/>
          </a:xfrm>
          <a:prstGeom prst="rect">
            <a:avLst/>
          </a:prstGeom>
          <a:noFill/>
        </p:spPr>
        <p:txBody>
          <a:bodyPr wrap="square" lIns="0" rIns="0" tIns="0" bIns="0">
            <a:spAutoFit/>
          </a:bodyPr>
          <a:lstStyle/>
          <a:p>
            <a:pPr algn="ctr">
              <a:spcAft>
                <a:spcPts val="500"/>
              </a:spcAft>
              <a:defRPr sz="1600" b="1">
                <a:solidFill>
                  <a:srgbClr val="FFFFFF"/>
                </a:solidFill>
                <a:latin typeface="Arial"/>
              </a:defRPr>
            </a:pPr>
            <a:r>
              <a:t>2</a:t>
            </a:r>
          </a:p>
        </p:txBody>
      </p:sp>
      <p:sp>
        <p:nvSpPr>
          <p:cNvPr id="13" name="TextBox 12"/>
          <p:cNvSpPr txBox="1"/>
          <p:nvPr/>
        </p:nvSpPr>
        <p:spPr>
          <a:xfrm>
            <a:off x="1298448" y="2816352"/>
            <a:ext cx="10058400" cy="731520"/>
          </a:xfrm>
          <a:prstGeom prst="rect">
            <a:avLst/>
          </a:prstGeom>
          <a:noFill/>
        </p:spPr>
        <p:txBody>
          <a:bodyPr wrap="square" lIns="0" rIns="0" tIns="0" bIns="0">
            <a:spAutoFit/>
          </a:bodyPr>
          <a:lstStyle/>
          <a:p>
            <a:pPr>
              <a:spcAft>
                <a:spcPts val="500"/>
              </a:spcAft>
              <a:defRPr sz="2500" b="0">
                <a:solidFill>
                  <a:srgbClr val="173343"/>
                </a:solidFill>
                <a:latin typeface="Arial"/>
              </a:defRPr>
            </a:pPr>
            <a:r>
              <a:t>How can plans remain feasible, verifiable, and safe under uncertainty?</a:t>
            </a:r>
          </a:p>
        </p:txBody>
      </p:sp>
      <p:sp>
        <p:nvSpPr>
          <p:cNvPr id="14" name="Oval 13"/>
          <p:cNvSpPr/>
          <p:nvPr/>
        </p:nvSpPr>
        <p:spPr>
          <a:xfrm>
            <a:off x="640080" y="3849624"/>
            <a:ext cx="393192" cy="393192"/>
          </a:xfrm>
          <a:prstGeom prst="ellipse">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86200"/>
            <a:ext cx="393192" cy="274320"/>
          </a:xfrm>
          <a:prstGeom prst="rect">
            <a:avLst/>
          </a:prstGeom>
          <a:noFill/>
        </p:spPr>
        <p:txBody>
          <a:bodyPr wrap="square" lIns="0" rIns="0" tIns="0" bIns="0">
            <a:spAutoFit/>
          </a:bodyPr>
          <a:lstStyle/>
          <a:p>
            <a:pPr algn="ctr">
              <a:spcAft>
                <a:spcPts val="500"/>
              </a:spcAft>
              <a:defRPr sz="1600" b="1">
                <a:solidFill>
                  <a:srgbClr val="FFFFFF"/>
                </a:solidFill>
                <a:latin typeface="Arial"/>
              </a:defRPr>
            </a:pPr>
            <a:r>
              <a:t>3</a:t>
            </a:r>
          </a:p>
        </p:txBody>
      </p:sp>
      <p:sp>
        <p:nvSpPr>
          <p:cNvPr id="16" name="TextBox 15"/>
          <p:cNvSpPr txBox="1"/>
          <p:nvPr/>
        </p:nvSpPr>
        <p:spPr>
          <a:xfrm>
            <a:off x="1298448" y="3803904"/>
            <a:ext cx="10058400" cy="731520"/>
          </a:xfrm>
          <a:prstGeom prst="rect">
            <a:avLst/>
          </a:prstGeom>
          <a:noFill/>
        </p:spPr>
        <p:txBody>
          <a:bodyPr wrap="square" lIns="0" rIns="0" tIns="0" bIns="0">
            <a:spAutoFit/>
          </a:bodyPr>
          <a:lstStyle/>
          <a:p>
            <a:pPr>
              <a:spcAft>
                <a:spcPts val="500"/>
              </a:spcAft>
              <a:defRPr sz="2500" b="0">
                <a:solidFill>
                  <a:srgbClr val="173343"/>
                </a:solidFill>
                <a:latin typeface="Arial"/>
              </a:defRPr>
            </a:pPr>
            <a:r>
              <a:t>How can robots adapt without losing interpretability or constraint awareness?</a:t>
            </a:r>
          </a:p>
        </p:txBody>
      </p:sp>
      <p:sp>
        <p:nvSpPr>
          <p:cNvPr id="17" name="Oval 16"/>
          <p:cNvSpPr/>
          <p:nvPr/>
        </p:nvSpPr>
        <p:spPr>
          <a:xfrm>
            <a:off x="640080" y="4837176"/>
            <a:ext cx="393192" cy="393192"/>
          </a:xfrm>
          <a:prstGeom prst="ellipse">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873752"/>
            <a:ext cx="393192" cy="274320"/>
          </a:xfrm>
          <a:prstGeom prst="rect">
            <a:avLst/>
          </a:prstGeom>
          <a:noFill/>
        </p:spPr>
        <p:txBody>
          <a:bodyPr wrap="square" lIns="0" rIns="0" tIns="0" bIns="0">
            <a:spAutoFit/>
          </a:bodyPr>
          <a:lstStyle/>
          <a:p>
            <a:pPr algn="ctr">
              <a:spcAft>
                <a:spcPts val="500"/>
              </a:spcAft>
              <a:defRPr sz="1600" b="1">
                <a:solidFill>
                  <a:srgbClr val="FFFFFF"/>
                </a:solidFill>
                <a:latin typeface="Arial"/>
              </a:defRPr>
            </a:pPr>
            <a:r>
              <a:t>4</a:t>
            </a:r>
          </a:p>
        </p:txBody>
      </p:sp>
      <p:sp>
        <p:nvSpPr>
          <p:cNvPr id="19" name="TextBox 18"/>
          <p:cNvSpPr txBox="1"/>
          <p:nvPr/>
        </p:nvSpPr>
        <p:spPr>
          <a:xfrm>
            <a:off x="1298448" y="4791456"/>
            <a:ext cx="10058400" cy="731520"/>
          </a:xfrm>
          <a:prstGeom prst="rect">
            <a:avLst/>
          </a:prstGeom>
          <a:noFill/>
        </p:spPr>
        <p:txBody>
          <a:bodyPr wrap="square" lIns="0" rIns="0" tIns="0" bIns="0">
            <a:spAutoFit/>
          </a:bodyPr>
          <a:lstStyle/>
          <a:p>
            <a:pPr>
              <a:spcAft>
                <a:spcPts val="500"/>
              </a:spcAft>
              <a:defRPr sz="2500" b="0">
                <a:solidFill>
                  <a:srgbClr val="173343"/>
                </a:solidFill>
                <a:latin typeface="Arial"/>
              </a:defRPr>
            </a:pPr>
            <a:r>
              <a:t>What semantics—and what human input—does robot learning need?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WORKSHOP TOPICS</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A meeting point for learning and reasoning</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08</a:t>
            </a:r>
          </a:p>
        </p:txBody>
      </p:sp>
      <p:sp>
        <p:nvSpPr>
          <p:cNvPr id="8" name="Rounded Rectangle 7"/>
          <p:cNvSpPr/>
          <p:nvPr/>
        </p:nvSpPr>
        <p:spPr>
          <a:xfrm>
            <a:off x="594360" y="1847088"/>
            <a:ext cx="5394960" cy="1801368"/>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029968"/>
            <a:ext cx="4983480" cy="457200"/>
          </a:xfrm>
          <a:prstGeom prst="rect">
            <a:avLst/>
          </a:prstGeom>
          <a:noFill/>
        </p:spPr>
        <p:txBody>
          <a:bodyPr wrap="square" lIns="0" rIns="0" tIns="0" bIns="0">
            <a:spAutoFit/>
          </a:bodyPr>
          <a:lstStyle/>
          <a:p>
            <a:pPr>
              <a:spcAft>
                <a:spcPts val="500"/>
              </a:spcAft>
              <a:defRPr sz="2400" b="1">
                <a:solidFill>
                  <a:srgbClr val="007E86"/>
                </a:solidFill>
                <a:latin typeface="Arial"/>
              </a:defRPr>
            </a:pPr>
            <a:r>
              <a:t>Architectures &amp; representations</a:t>
            </a:r>
          </a:p>
        </p:txBody>
      </p:sp>
      <p:sp>
        <p:nvSpPr>
          <p:cNvPr id="10" name="TextBox 9"/>
          <p:cNvSpPr txBox="1"/>
          <p:nvPr/>
        </p:nvSpPr>
        <p:spPr>
          <a:xfrm>
            <a:off x="795528" y="2615184"/>
            <a:ext cx="4937760" cy="868680"/>
          </a:xfrm>
          <a:prstGeom prst="rect">
            <a:avLst/>
          </a:prstGeom>
          <a:noFill/>
        </p:spPr>
        <p:txBody>
          <a:bodyPr wrap="square" lIns="0" rIns="0" tIns="0" bIns="0">
            <a:spAutoFit/>
          </a:bodyPr>
          <a:lstStyle/>
          <a:p>
            <a:pPr>
              <a:spcAft>
                <a:spcPts val="500"/>
              </a:spcAft>
              <a:defRPr sz="2100" b="0">
                <a:solidFill>
                  <a:srgbClr val="173343"/>
                </a:solidFill>
                <a:latin typeface="Arial"/>
              </a:defRPr>
            </a:pPr>
            <a:r>
              <a:t>NeSy perception, planning, and control; ontologies, scene graphs, world models.</a:t>
            </a:r>
          </a:p>
        </p:txBody>
      </p:sp>
      <p:sp>
        <p:nvSpPr>
          <p:cNvPr id="11" name="Rounded Rectangle 10"/>
          <p:cNvSpPr/>
          <p:nvPr/>
        </p:nvSpPr>
        <p:spPr>
          <a:xfrm>
            <a:off x="6263640" y="1847088"/>
            <a:ext cx="5394960" cy="1801368"/>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2029968"/>
            <a:ext cx="4983480" cy="457200"/>
          </a:xfrm>
          <a:prstGeom prst="rect">
            <a:avLst/>
          </a:prstGeom>
          <a:noFill/>
        </p:spPr>
        <p:txBody>
          <a:bodyPr wrap="square" lIns="0" rIns="0" tIns="0" bIns="0">
            <a:spAutoFit/>
          </a:bodyPr>
          <a:lstStyle/>
          <a:p>
            <a:pPr>
              <a:spcAft>
                <a:spcPts val="500"/>
              </a:spcAft>
              <a:defRPr sz="2400" b="1">
                <a:solidFill>
                  <a:srgbClr val="007E86"/>
                </a:solidFill>
                <a:latin typeface="Arial"/>
              </a:defRPr>
            </a:pPr>
            <a:r>
              <a:t>Planning &amp; verification</a:t>
            </a:r>
          </a:p>
        </p:txBody>
      </p:sp>
      <p:sp>
        <p:nvSpPr>
          <p:cNvPr id="13" name="TextBox 12"/>
          <p:cNvSpPr txBox="1"/>
          <p:nvPr/>
        </p:nvSpPr>
        <p:spPr>
          <a:xfrm>
            <a:off x="6464808" y="2615184"/>
            <a:ext cx="4937760" cy="868680"/>
          </a:xfrm>
          <a:prstGeom prst="rect">
            <a:avLst/>
          </a:prstGeom>
          <a:noFill/>
        </p:spPr>
        <p:txBody>
          <a:bodyPr wrap="square" lIns="0" rIns="0" tIns="0" bIns="0">
            <a:spAutoFit/>
          </a:bodyPr>
          <a:lstStyle/>
          <a:p>
            <a:pPr>
              <a:spcAft>
                <a:spcPts val="500"/>
              </a:spcAft>
              <a:defRPr sz="2100" b="0">
                <a:solidFill>
                  <a:srgbClr val="173343"/>
                </a:solidFill>
                <a:latin typeface="Arial"/>
              </a:defRPr>
            </a:pPr>
            <a:r>
              <a:t>Neural policies with symbolic planning; safety-aware and constraint-aware decisions.</a:t>
            </a:r>
          </a:p>
        </p:txBody>
      </p:sp>
      <p:sp>
        <p:nvSpPr>
          <p:cNvPr id="14" name="Rounded Rectangle 13"/>
          <p:cNvSpPr/>
          <p:nvPr/>
        </p:nvSpPr>
        <p:spPr>
          <a:xfrm>
            <a:off x="594360" y="3877056"/>
            <a:ext cx="5394960" cy="1801368"/>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4059936"/>
            <a:ext cx="4983480" cy="457200"/>
          </a:xfrm>
          <a:prstGeom prst="rect">
            <a:avLst/>
          </a:prstGeom>
          <a:noFill/>
        </p:spPr>
        <p:txBody>
          <a:bodyPr wrap="square" lIns="0" rIns="0" tIns="0" bIns="0">
            <a:spAutoFit/>
          </a:bodyPr>
          <a:lstStyle/>
          <a:p>
            <a:pPr>
              <a:spcAft>
                <a:spcPts val="500"/>
              </a:spcAft>
              <a:defRPr sz="2400" b="1">
                <a:solidFill>
                  <a:srgbClr val="007E86"/>
                </a:solidFill>
                <a:latin typeface="Arial"/>
              </a:defRPr>
            </a:pPr>
            <a:r>
              <a:t>Memory &amp; grounding</a:t>
            </a:r>
          </a:p>
        </p:txBody>
      </p:sp>
      <p:sp>
        <p:nvSpPr>
          <p:cNvPr id="16" name="TextBox 15"/>
          <p:cNvSpPr txBox="1"/>
          <p:nvPr/>
        </p:nvSpPr>
        <p:spPr>
          <a:xfrm>
            <a:off x="795528" y="4645152"/>
            <a:ext cx="4937760" cy="868680"/>
          </a:xfrm>
          <a:prstGeom prst="rect">
            <a:avLst/>
          </a:prstGeom>
          <a:noFill/>
        </p:spPr>
        <p:txBody>
          <a:bodyPr wrap="square" lIns="0" rIns="0" tIns="0" bIns="0">
            <a:spAutoFit/>
          </a:bodyPr>
          <a:lstStyle/>
          <a:p>
            <a:pPr>
              <a:spcAft>
                <a:spcPts val="500"/>
              </a:spcAft>
              <a:defRPr sz="2100" b="0">
                <a:solidFill>
                  <a:srgbClr val="173343"/>
                </a:solidFill>
                <a:latin typeface="Arial"/>
              </a:defRPr>
            </a:pPr>
            <a:r>
              <a:t>Continual learning, experience reuse, and perceptual grounding for reasoning.</a:t>
            </a:r>
          </a:p>
        </p:txBody>
      </p:sp>
      <p:sp>
        <p:nvSpPr>
          <p:cNvPr id="17" name="Rounded Rectangle 16"/>
          <p:cNvSpPr/>
          <p:nvPr/>
        </p:nvSpPr>
        <p:spPr>
          <a:xfrm>
            <a:off x="6263640" y="3877056"/>
            <a:ext cx="5394960" cy="1801368"/>
          </a:xfrm>
          <a:prstGeom prst="roundRect">
            <a:avLst>
              <a:gd name="adj" fmla="val 8000"/>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8" y="4059936"/>
            <a:ext cx="4983480" cy="457200"/>
          </a:xfrm>
          <a:prstGeom prst="rect">
            <a:avLst/>
          </a:prstGeom>
          <a:noFill/>
        </p:spPr>
        <p:txBody>
          <a:bodyPr wrap="square" lIns="0" rIns="0" tIns="0" bIns="0">
            <a:spAutoFit/>
          </a:bodyPr>
          <a:lstStyle/>
          <a:p>
            <a:pPr>
              <a:spcAft>
                <a:spcPts val="500"/>
              </a:spcAft>
              <a:defRPr sz="2400" b="1">
                <a:solidFill>
                  <a:srgbClr val="007E86"/>
                </a:solidFill>
                <a:latin typeface="Arial"/>
              </a:defRPr>
            </a:pPr>
            <a:r>
              <a:t>People &amp; interpretability</a:t>
            </a:r>
          </a:p>
        </p:txBody>
      </p:sp>
      <p:sp>
        <p:nvSpPr>
          <p:cNvPr id="19" name="TextBox 18"/>
          <p:cNvSpPr txBox="1"/>
          <p:nvPr/>
        </p:nvSpPr>
        <p:spPr>
          <a:xfrm>
            <a:off x="6464808" y="4645152"/>
            <a:ext cx="4937760" cy="868680"/>
          </a:xfrm>
          <a:prstGeom prst="rect">
            <a:avLst/>
          </a:prstGeom>
          <a:noFill/>
        </p:spPr>
        <p:txBody>
          <a:bodyPr wrap="square" lIns="0" rIns="0" tIns="0" bIns="0">
            <a:spAutoFit/>
          </a:bodyPr>
          <a:lstStyle/>
          <a:p>
            <a:pPr>
              <a:spcAft>
                <a:spcPts val="500"/>
              </a:spcAft>
              <a:defRPr sz="2100" b="0">
                <a:solidFill>
                  <a:srgbClr val="173343"/>
                </a:solidFill>
                <a:latin typeface="Arial"/>
              </a:defRPr>
            </a:pPr>
            <a:r>
              <a:t>Auditable decisions, human–robot interaction, and collaboration.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RELIABLE EMBODIED AI</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Invited speakers and panelists</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09</a:t>
            </a:r>
          </a:p>
        </p:txBody>
      </p:sp>
      <p:pic>
        <p:nvPicPr>
          <p:cNvPr id="8" name="Picture 7" descr="sciutti.jpeg"/>
          <p:cNvPicPr>
            <a:picLocks noChangeAspect="1"/>
          </p:cNvPicPr>
          <p:nvPr/>
        </p:nvPicPr>
        <p:blipFill>
          <a:blip r:embed="rId3"/>
          <a:srcRect l="5610" r="5610"/>
          <a:stretch>
            <a:fillRect/>
          </a:stretch>
        </p:blipFill>
        <p:spPr>
          <a:xfrm>
            <a:off x="594360" y="1874519"/>
            <a:ext cx="1664208" cy="1874519"/>
          </a:xfrm>
          <a:prstGeom prst="rect">
            <a:avLst/>
          </a:prstGeom>
        </p:spPr>
      </p:pic>
      <p:sp>
        <p:nvSpPr>
          <p:cNvPr id="9" name="TextBox 8"/>
          <p:cNvSpPr txBox="1"/>
          <p:nvPr/>
        </p:nvSpPr>
        <p:spPr>
          <a:xfrm>
            <a:off x="594360" y="3950208"/>
            <a:ext cx="1700784"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08:30 • KEYNOTE</a:t>
            </a:r>
          </a:p>
        </p:txBody>
      </p:sp>
      <p:sp>
        <p:nvSpPr>
          <p:cNvPr id="10" name="TextBox 9"/>
          <p:cNvSpPr txBox="1"/>
          <p:nvPr/>
        </p:nvSpPr>
        <p:spPr>
          <a:xfrm>
            <a:off x="594360" y="4453128"/>
            <a:ext cx="1700784" cy="713232"/>
          </a:xfrm>
          <a:prstGeom prst="rect">
            <a:avLst/>
          </a:prstGeom>
          <a:noFill/>
        </p:spPr>
        <p:txBody>
          <a:bodyPr wrap="square" lIns="0" rIns="0" tIns="0" bIns="0">
            <a:spAutoFit/>
          </a:bodyPr>
          <a:lstStyle/>
          <a:p>
            <a:pPr>
              <a:spcAft>
                <a:spcPts val="500"/>
              </a:spcAft>
              <a:defRPr sz="1900" b="1">
                <a:solidFill>
                  <a:srgbClr val="173343"/>
                </a:solidFill>
                <a:latin typeface="Arial"/>
              </a:defRPr>
            </a:pPr>
            <a:r>
              <a:t>Alessandra Sciutti</a:t>
            </a:r>
          </a:p>
        </p:txBody>
      </p:sp>
      <p:sp>
        <p:nvSpPr>
          <p:cNvPr id="11" name="TextBox 10"/>
          <p:cNvSpPr txBox="1"/>
          <p:nvPr/>
        </p:nvSpPr>
        <p:spPr>
          <a:xfrm>
            <a:off x="594360" y="5358384"/>
            <a:ext cx="1682496" cy="795528"/>
          </a:xfrm>
          <a:prstGeom prst="rect">
            <a:avLst/>
          </a:prstGeom>
          <a:noFill/>
        </p:spPr>
        <p:txBody>
          <a:bodyPr wrap="square" lIns="0" rIns="0" tIns="0" bIns="0">
            <a:spAutoFit/>
          </a:bodyPr>
          <a:lstStyle/>
          <a:p>
            <a:pPr>
              <a:spcAft>
                <a:spcPts val="500"/>
              </a:spcAft>
              <a:defRPr sz="1400" b="0">
                <a:solidFill>
                  <a:srgbClr val="536976"/>
                </a:solidFill>
                <a:latin typeface="Arial"/>
              </a:defRPr>
            </a:pPr>
            <a:r>
              <a:t>Istituto Italiano di Tecnologia</a:t>
            </a:r>
          </a:p>
        </p:txBody>
      </p:sp>
      <p:pic>
        <p:nvPicPr>
          <p:cNvPr id="12" name="Picture 11" descr="scherer.jpg"/>
          <p:cNvPicPr>
            <a:picLocks noChangeAspect="1"/>
          </p:cNvPicPr>
          <p:nvPr/>
        </p:nvPicPr>
        <p:blipFill>
          <a:blip r:embed="rId4"/>
          <a:srcRect l="16596" r="16596"/>
          <a:stretch>
            <a:fillRect/>
          </a:stretch>
        </p:blipFill>
        <p:spPr>
          <a:xfrm>
            <a:off x="2482596" y="1874519"/>
            <a:ext cx="1664208" cy="1874519"/>
          </a:xfrm>
          <a:prstGeom prst="rect">
            <a:avLst/>
          </a:prstGeom>
        </p:spPr>
      </p:pic>
      <p:sp>
        <p:nvSpPr>
          <p:cNvPr id="13" name="TextBox 12"/>
          <p:cNvSpPr txBox="1"/>
          <p:nvPr/>
        </p:nvSpPr>
        <p:spPr>
          <a:xfrm>
            <a:off x="2482596" y="3950208"/>
            <a:ext cx="1700784"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08:50 • KEYNOTE</a:t>
            </a:r>
          </a:p>
        </p:txBody>
      </p:sp>
      <p:sp>
        <p:nvSpPr>
          <p:cNvPr id="14" name="TextBox 13"/>
          <p:cNvSpPr txBox="1"/>
          <p:nvPr/>
        </p:nvSpPr>
        <p:spPr>
          <a:xfrm>
            <a:off x="2482596" y="4453128"/>
            <a:ext cx="1700784" cy="713232"/>
          </a:xfrm>
          <a:prstGeom prst="rect">
            <a:avLst/>
          </a:prstGeom>
          <a:noFill/>
        </p:spPr>
        <p:txBody>
          <a:bodyPr wrap="square" lIns="0" rIns="0" tIns="0" bIns="0">
            <a:spAutoFit/>
          </a:bodyPr>
          <a:lstStyle/>
          <a:p>
            <a:pPr>
              <a:spcAft>
                <a:spcPts val="500"/>
              </a:spcAft>
              <a:defRPr sz="1900" b="1">
                <a:solidFill>
                  <a:srgbClr val="173343"/>
                </a:solidFill>
                <a:latin typeface="Arial"/>
              </a:defRPr>
            </a:pPr>
            <a:r>
              <a:t>Sebastian Scherer</a:t>
            </a:r>
          </a:p>
        </p:txBody>
      </p:sp>
      <p:sp>
        <p:nvSpPr>
          <p:cNvPr id="15" name="TextBox 14"/>
          <p:cNvSpPr txBox="1"/>
          <p:nvPr/>
        </p:nvSpPr>
        <p:spPr>
          <a:xfrm>
            <a:off x="2482596" y="5358384"/>
            <a:ext cx="1682496" cy="795528"/>
          </a:xfrm>
          <a:prstGeom prst="rect">
            <a:avLst/>
          </a:prstGeom>
          <a:noFill/>
        </p:spPr>
        <p:txBody>
          <a:bodyPr wrap="square" lIns="0" rIns="0" tIns="0" bIns="0">
            <a:spAutoFit/>
          </a:bodyPr>
          <a:lstStyle/>
          <a:p>
            <a:pPr>
              <a:spcAft>
                <a:spcPts val="500"/>
              </a:spcAft>
              <a:defRPr sz="1400" b="0">
                <a:solidFill>
                  <a:srgbClr val="536976"/>
                </a:solidFill>
                <a:latin typeface="Arial"/>
              </a:defRPr>
            </a:pPr>
            <a:r>
              <a:t>Carnegie Mellon University</a:t>
            </a:r>
          </a:p>
        </p:txBody>
      </p:sp>
      <p:pic>
        <p:nvPicPr>
          <p:cNvPr id="16" name="Picture 15" descr="jiayuan.jpg"/>
          <p:cNvPicPr>
            <a:picLocks noChangeAspect="1"/>
          </p:cNvPicPr>
          <p:nvPr/>
        </p:nvPicPr>
        <p:blipFill>
          <a:blip r:embed="rId5"/>
          <a:srcRect l="5610" r="5610"/>
          <a:stretch>
            <a:fillRect/>
          </a:stretch>
        </p:blipFill>
        <p:spPr>
          <a:xfrm>
            <a:off x="4370832" y="1874519"/>
            <a:ext cx="1664208" cy="1874519"/>
          </a:xfrm>
          <a:prstGeom prst="rect">
            <a:avLst/>
          </a:prstGeom>
        </p:spPr>
      </p:pic>
      <p:sp>
        <p:nvSpPr>
          <p:cNvPr id="17" name="TextBox 16"/>
          <p:cNvSpPr txBox="1"/>
          <p:nvPr/>
        </p:nvSpPr>
        <p:spPr>
          <a:xfrm>
            <a:off x="4370832" y="3950208"/>
            <a:ext cx="1700784"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09:10 • KEYNOTE</a:t>
            </a:r>
          </a:p>
        </p:txBody>
      </p:sp>
      <p:sp>
        <p:nvSpPr>
          <p:cNvPr id="18" name="TextBox 17"/>
          <p:cNvSpPr txBox="1"/>
          <p:nvPr/>
        </p:nvSpPr>
        <p:spPr>
          <a:xfrm>
            <a:off x="4370832" y="4453128"/>
            <a:ext cx="1700784" cy="713232"/>
          </a:xfrm>
          <a:prstGeom prst="rect">
            <a:avLst/>
          </a:prstGeom>
          <a:noFill/>
        </p:spPr>
        <p:txBody>
          <a:bodyPr wrap="square" lIns="0" rIns="0" tIns="0" bIns="0">
            <a:spAutoFit/>
          </a:bodyPr>
          <a:lstStyle/>
          <a:p>
            <a:pPr>
              <a:spcAft>
                <a:spcPts val="500"/>
              </a:spcAft>
              <a:defRPr sz="1900" b="1">
                <a:solidFill>
                  <a:srgbClr val="173343"/>
                </a:solidFill>
                <a:latin typeface="Arial"/>
              </a:defRPr>
            </a:pPr>
            <a:r>
              <a:t>Jiayuan Mao</a:t>
            </a:r>
          </a:p>
        </p:txBody>
      </p:sp>
      <p:sp>
        <p:nvSpPr>
          <p:cNvPr id="19" name="TextBox 18"/>
          <p:cNvSpPr txBox="1"/>
          <p:nvPr/>
        </p:nvSpPr>
        <p:spPr>
          <a:xfrm>
            <a:off x="4370832" y="5358384"/>
            <a:ext cx="1682496" cy="795528"/>
          </a:xfrm>
          <a:prstGeom prst="rect">
            <a:avLst/>
          </a:prstGeom>
          <a:noFill/>
        </p:spPr>
        <p:txBody>
          <a:bodyPr wrap="square" lIns="0" rIns="0" tIns="0" bIns="0">
            <a:spAutoFit/>
          </a:bodyPr>
          <a:lstStyle/>
          <a:p>
            <a:pPr>
              <a:spcAft>
                <a:spcPts val="500"/>
              </a:spcAft>
              <a:defRPr sz="1400" b="0">
                <a:solidFill>
                  <a:srgbClr val="536976"/>
                </a:solidFill>
                <a:latin typeface="Arial"/>
              </a:defRPr>
            </a:pPr>
            <a:r>
              <a:t>Amazon Robotics / University of Pennsylvania</a:t>
            </a:r>
          </a:p>
        </p:txBody>
      </p:sp>
      <p:pic>
        <p:nvPicPr>
          <p:cNvPr id="20" name="Picture 19" descr="yezhou.jpg"/>
          <p:cNvPicPr>
            <a:picLocks noChangeAspect="1"/>
          </p:cNvPicPr>
          <p:nvPr/>
        </p:nvPicPr>
        <p:blipFill>
          <a:blip r:embed="rId6"/>
          <a:srcRect l="5610" r="5610"/>
          <a:stretch>
            <a:fillRect/>
          </a:stretch>
        </p:blipFill>
        <p:spPr>
          <a:xfrm>
            <a:off x="6259068" y="1874519"/>
            <a:ext cx="1664208" cy="1874519"/>
          </a:xfrm>
          <a:prstGeom prst="rect">
            <a:avLst/>
          </a:prstGeom>
        </p:spPr>
      </p:pic>
      <p:sp>
        <p:nvSpPr>
          <p:cNvPr id="21" name="TextBox 20"/>
          <p:cNvSpPr txBox="1"/>
          <p:nvPr/>
        </p:nvSpPr>
        <p:spPr>
          <a:xfrm>
            <a:off x="6259068" y="3950208"/>
            <a:ext cx="1700784"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09:50 • KEYNOTE</a:t>
            </a:r>
          </a:p>
        </p:txBody>
      </p:sp>
      <p:sp>
        <p:nvSpPr>
          <p:cNvPr id="22" name="TextBox 21"/>
          <p:cNvSpPr txBox="1"/>
          <p:nvPr/>
        </p:nvSpPr>
        <p:spPr>
          <a:xfrm>
            <a:off x="6259068" y="4453128"/>
            <a:ext cx="1700784" cy="713232"/>
          </a:xfrm>
          <a:prstGeom prst="rect">
            <a:avLst/>
          </a:prstGeom>
          <a:noFill/>
        </p:spPr>
        <p:txBody>
          <a:bodyPr wrap="square" lIns="0" rIns="0" tIns="0" bIns="0">
            <a:spAutoFit/>
          </a:bodyPr>
          <a:lstStyle/>
          <a:p>
            <a:pPr>
              <a:spcAft>
                <a:spcPts val="500"/>
              </a:spcAft>
              <a:defRPr sz="1900" b="1">
                <a:solidFill>
                  <a:srgbClr val="173343"/>
                </a:solidFill>
                <a:latin typeface="Arial"/>
              </a:defRPr>
            </a:pPr>
            <a:r>
              <a:t>Yezhou (YZ) Yang</a:t>
            </a:r>
          </a:p>
        </p:txBody>
      </p:sp>
      <p:sp>
        <p:nvSpPr>
          <p:cNvPr id="23" name="TextBox 22"/>
          <p:cNvSpPr txBox="1"/>
          <p:nvPr/>
        </p:nvSpPr>
        <p:spPr>
          <a:xfrm>
            <a:off x="6259068" y="5358384"/>
            <a:ext cx="1682496" cy="795528"/>
          </a:xfrm>
          <a:prstGeom prst="rect">
            <a:avLst/>
          </a:prstGeom>
          <a:noFill/>
        </p:spPr>
        <p:txBody>
          <a:bodyPr wrap="square" lIns="0" rIns="0" tIns="0" bIns="0">
            <a:spAutoFit/>
          </a:bodyPr>
          <a:lstStyle/>
          <a:p>
            <a:pPr>
              <a:spcAft>
                <a:spcPts val="500"/>
              </a:spcAft>
              <a:defRPr sz="1400" b="0">
                <a:solidFill>
                  <a:srgbClr val="536976"/>
                </a:solidFill>
                <a:latin typeface="Arial"/>
              </a:defRPr>
            </a:pPr>
            <a:r>
              <a:t>Arizona State University</a:t>
            </a:r>
          </a:p>
        </p:txBody>
      </p:sp>
      <p:pic>
        <p:nvPicPr>
          <p:cNvPr id="24" name="Picture 23" descr="chai.jpg"/>
          <p:cNvPicPr>
            <a:picLocks noChangeAspect="1"/>
          </p:cNvPicPr>
          <p:nvPr/>
        </p:nvPicPr>
        <p:blipFill>
          <a:blip r:embed="rId7"/>
          <a:srcRect l="5610" r="5610"/>
          <a:stretch>
            <a:fillRect/>
          </a:stretch>
        </p:blipFill>
        <p:spPr>
          <a:xfrm>
            <a:off x="8147304" y="1874519"/>
            <a:ext cx="1664208" cy="1874519"/>
          </a:xfrm>
          <a:prstGeom prst="rect">
            <a:avLst/>
          </a:prstGeom>
        </p:spPr>
      </p:pic>
      <p:sp>
        <p:nvSpPr>
          <p:cNvPr id="25" name="TextBox 24"/>
          <p:cNvSpPr txBox="1"/>
          <p:nvPr/>
        </p:nvSpPr>
        <p:spPr>
          <a:xfrm>
            <a:off x="8147304" y="3950208"/>
            <a:ext cx="1700784"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10:10 • KEYNOTE</a:t>
            </a:r>
          </a:p>
        </p:txBody>
      </p:sp>
      <p:sp>
        <p:nvSpPr>
          <p:cNvPr id="26" name="TextBox 25"/>
          <p:cNvSpPr txBox="1"/>
          <p:nvPr/>
        </p:nvSpPr>
        <p:spPr>
          <a:xfrm>
            <a:off x="8147304" y="4453128"/>
            <a:ext cx="1700784" cy="713232"/>
          </a:xfrm>
          <a:prstGeom prst="rect">
            <a:avLst/>
          </a:prstGeom>
          <a:noFill/>
        </p:spPr>
        <p:txBody>
          <a:bodyPr wrap="square" lIns="0" rIns="0" tIns="0" bIns="0">
            <a:spAutoFit/>
          </a:bodyPr>
          <a:lstStyle/>
          <a:p>
            <a:pPr>
              <a:spcAft>
                <a:spcPts val="500"/>
              </a:spcAft>
              <a:defRPr sz="1900" b="1">
                <a:solidFill>
                  <a:srgbClr val="173343"/>
                </a:solidFill>
                <a:latin typeface="Arial"/>
              </a:defRPr>
            </a:pPr>
            <a:r>
              <a:t>Joyce Chai</a:t>
            </a:r>
          </a:p>
        </p:txBody>
      </p:sp>
      <p:sp>
        <p:nvSpPr>
          <p:cNvPr id="27" name="TextBox 26"/>
          <p:cNvSpPr txBox="1"/>
          <p:nvPr/>
        </p:nvSpPr>
        <p:spPr>
          <a:xfrm>
            <a:off x="8147304" y="5358384"/>
            <a:ext cx="1682496" cy="795528"/>
          </a:xfrm>
          <a:prstGeom prst="rect">
            <a:avLst/>
          </a:prstGeom>
          <a:noFill/>
        </p:spPr>
        <p:txBody>
          <a:bodyPr wrap="square" lIns="0" rIns="0" tIns="0" bIns="0">
            <a:spAutoFit/>
          </a:bodyPr>
          <a:lstStyle/>
          <a:p>
            <a:pPr>
              <a:spcAft>
                <a:spcPts val="500"/>
              </a:spcAft>
              <a:defRPr sz="1400" b="0">
                <a:solidFill>
                  <a:srgbClr val="536976"/>
                </a:solidFill>
                <a:latin typeface="Arial"/>
              </a:defRPr>
            </a:pPr>
            <a:r>
              <a:t>University of Michigan</a:t>
            </a:r>
          </a:p>
        </p:txBody>
      </p:sp>
      <p:pic>
        <p:nvPicPr>
          <p:cNvPr id="28" name="Picture 27" descr="jean.jpg"/>
          <p:cNvPicPr>
            <a:picLocks noChangeAspect="1"/>
          </p:cNvPicPr>
          <p:nvPr/>
        </p:nvPicPr>
        <p:blipFill>
          <a:blip r:embed="rId8"/>
          <a:srcRect l="5610" r="5610"/>
          <a:stretch>
            <a:fillRect/>
          </a:stretch>
        </p:blipFill>
        <p:spPr>
          <a:xfrm>
            <a:off x="10035540" y="1874519"/>
            <a:ext cx="1664208" cy="1874519"/>
          </a:xfrm>
          <a:prstGeom prst="rect">
            <a:avLst/>
          </a:prstGeom>
        </p:spPr>
      </p:pic>
      <p:sp>
        <p:nvSpPr>
          <p:cNvPr id="29" name="TextBox 28"/>
          <p:cNvSpPr txBox="1"/>
          <p:nvPr/>
        </p:nvSpPr>
        <p:spPr>
          <a:xfrm>
            <a:off x="10035540" y="3950208"/>
            <a:ext cx="1700784"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11:20 • PANEL</a:t>
            </a:r>
          </a:p>
        </p:txBody>
      </p:sp>
      <p:sp>
        <p:nvSpPr>
          <p:cNvPr id="30" name="TextBox 29"/>
          <p:cNvSpPr txBox="1"/>
          <p:nvPr/>
        </p:nvSpPr>
        <p:spPr>
          <a:xfrm>
            <a:off x="10035540" y="4453128"/>
            <a:ext cx="1700784" cy="713232"/>
          </a:xfrm>
          <a:prstGeom prst="rect">
            <a:avLst/>
          </a:prstGeom>
          <a:noFill/>
        </p:spPr>
        <p:txBody>
          <a:bodyPr wrap="square" lIns="0" rIns="0" tIns="0" bIns="0">
            <a:spAutoFit/>
          </a:bodyPr>
          <a:lstStyle/>
          <a:p>
            <a:pPr>
              <a:spcAft>
                <a:spcPts val="500"/>
              </a:spcAft>
              <a:defRPr sz="1900" b="1">
                <a:solidFill>
                  <a:srgbClr val="173343"/>
                </a:solidFill>
                <a:latin typeface="Arial"/>
              </a:defRPr>
            </a:pPr>
            <a:r>
              <a:t>Jean Oh</a:t>
            </a:r>
          </a:p>
        </p:txBody>
      </p:sp>
      <p:sp>
        <p:nvSpPr>
          <p:cNvPr id="31" name="TextBox 30"/>
          <p:cNvSpPr txBox="1"/>
          <p:nvPr/>
        </p:nvSpPr>
        <p:spPr>
          <a:xfrm>
            <a:off x="10035540" y="5358384"/>
            <a:ext cx="1682496" cy="795528"/>
          </a:xfrm>
          <a:prstGeom prst="rect">
            <a:avLst/>
          </a:prstGeom>
          <a:noFill/>
        </p:spPr>
        <p:txBody>
          <a:bodyPr wrap="square" lIns="0" rIns="0" tIns="0" bIns="0">
            <a:spAutoFit/>
          </a:bodyPr>
          <a:lstStyle/>
          <a:p>
            <a:pPr>
              <a:spcAft>
                <a:spcPts val="500"/>
              </a:spcAft>
              <a:defRPr sz="1400" b="0">
                <a:solidFill>
                  <a:srgbClr val="536976"/>
                </a:solidFill>
                <a:latin typeface="Arial"/>
              </a:defRPr>
            </a:pPr>
            <a:r>
              <a:t>Carnegie Mellon University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B3A"/>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69D7D8"/>
                </a:solidFill>
                <a:latin typeface="Arial"/>
              </a:defRPr>
            </a:pPr>
            <a:r>
              <a:t>PROGRAM</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FFFFFF"/>
                </a:solidFill>
                <a:latin typeface="Arial"/>
              </a:defRPr>
            </a:pPr>
            <a:r>
              <a:t>This morning, at a glance</a:t>
            </a:r>
          </a:p>
        </p:txBody>
      </p:sp>
      <p:cxnSp>
        <p:nvCxnSpPr>
          <p:cNvPr id="5" name="Connector 4"/>
          <p:cNvCxnSpPr/>
          <p:nvPr/>
        </p:nvCxnSpPr>
        <p:spPr>
          <a:xfrm>
            <a:off x="548640" y="6391656"/>
            <a:ext cx="11082528" cy="0"/>
          </a:xfrm>
          <a:prstGeom prst="line">
            <a:avLst/>
          </a:prstGeom>
          <a:ln w="8890">
            <a:solidFill>
              <a:srgbClr val="3650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A7BCC5"/>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A7BCC5"/>
                </a:solidFill>
                <a:latin typeface="Arial"/>
              </a:defRPr>
            </a:pPr>
            <a:r>
              <a:t>10</a:t>
            </a:r>
          </a:p>
        </p:txBody>
      </p:sp>
      <p:sp>
        <p:nvSpPr>
          <p:cNvPr id="8" name="TextBox 7"/>
          <p:cNvSpPr txBox="1"/>
          <p:nvPr/>
        </p:nvSpPr>
        <p:spPr>
          <a:xfrm>
            <a:off x="640080" y="1828800"/>
            <a:ext cx="3383280" cy="1097280"/>
          </a:xfrm>
          <a:prstGeom prst="rect">
            <a:avLst/>
          </a:prstGeom>
          <a:noFill/>
        </p:spPr>
        <p:txBody>
          <a:bodyPr wrap="square" lIns="0" rIns="0" tIns="0" bIns="0">
            <a:spAutoFit/>
          </a:bodyPr>
          <a:lstStyle/>
          <a:p>
            <a:pPr>
              <a:spcAft>
                <a:spcPts val="500"/>
              </a:spcAft>
              <a:defRPr sz="7200" b="1">
                <a:solidFill>
                  <a:srgbClr val="FFC928"/>
                </a:solidFill>
                <a:latin typeface="Arial"/>
              </a:defRPr>
            </a:pPr>
            <a:r>
              <a:t>5</a:t>
            </a:r>
          </a:p>
        </p:txBody>
      </p:sp>
      <p:sp>
        <p:nvSpPr>
          <p:cNvPr id="9" name="TextBox 8"/>
          <p:cNvSpPr txBox="1"/>
          <p:nvPr/>
        </p:nvSpPr>
        <p:spPr>
          <a:xfrm>
            <a:off x="640080" y="3136392"/>
            <a:ext cx="3291840" cy="502920"/>
          </a:xfrm>
          <a:prstGeom prst="rect">
            <a:avLst/>
          </a:prstGeom>
          <a:noFill/>
        </p:spPr>
        <p:txBody>
          <a:bodyPr wrap="square" lIns="0" rIns="0" tIns="0" bIns="0">
            <a:spAutoFit/>
          </a:bodyPr>
          <a:lstStyle/>
          <a:p>
            <a:pPr>
              <a:spcAft>
                <a:spcPts val="500"/>
              </a:spcAft>
              <a:defRPr sz="2500" b="1">
                <a:solidFill>
                  <a:srgbClr val="FFFFFF"/>
                </a:solidFill>
                <a:latin typeface="Arial"/>
              </a:defRPr>
            </a:pPr>
            <a:r>
              <a:t>Keynotes</a:t>
            </a:r>
          </a:p>
        </p:txBody>
      </p:sp>
      <p:sp>
        <p:nvSpPr>
          <p:cNvPr id="10" name="TextBox 9"/>
          <p:cNvSpPr txBox="1"/>
          <p:nvPr/>
        </p:nvSpPr>
        <p:spPr>
          <a:xfrm>
            <a:off x="640080" y="3822191"/>
            <a:ext cx="3246120" cy="987552"/>
          </a:xfrm>
          <a:prstGeom prst="rect">
            <a:avLst/>
          </a:prstGeom>
          <a:noFill/>
        </p:spPr>
        <p:txBody>
          <a:bodyPr wrap="square" lIns="0" rIns="0" tIns="0" bIns="0">
            <a:spAutoFit/>
          </a:bodyPr>
          <a:lstStyle/>
          <a:p>
            <a:pPr>
              <a:spcAft>
                <a:spcPts val="500"/>
              </a:spcAft>
              <a:defRPr sz="2100" b="0">
                <a:solidFill>
                  <a:srgbClr val="C7D9E0"/>
                </a:solidFill>
                <a:latin typeface="Arial"/>
              </a:defRPr>
            </a:pPr>
            <a:r>
              <a:t>Learning, symbols, concepts, evaluation, and recovery</a:t>
            </a:r>
          </a:p>
        </p:txBody>
      </p:sp>
      <p:sp>
        <p:nvSpPr>
          <p:cNvPr id="11" name="TextBox 10"/>
          <p:cNvSpPr txBox="1"/>
          <p:nvPr/>
        </p:nvSpPr>
        <p:spPr>
          <a:xfrm>
            <a:off x="4434840" y="1828800"/>
            <a:ext cx="3383280" cy="1097280"/>
          </a:xfrm>
          <a:prstGeom prst="rect">
            <a:avLst/>
          </a:prstGeom>
          <a:noFill/>
        </p:spPr>
        <p:txBody>
          <a:bodyPr wrap="square" lIns="0" rIns="0" tIns="0" bIns="0">
            <a:spAutoFit/>
          </a:bodyPr>
          <a:lstStyle/>
          <a:p>
            <a:pPr>
              <a:spcAft>
                <a:spcPts val="500"/>
              </a:spcAft>
              <a:defRPr sz="7200" b="1">
                <a:solidFill>
                  <a:srgbClr val="FFC928"/>
                </a:solidFill>
                <a:latin typeface="Arial"/>
              </a:defRPr>
            </a:pPr>
            <a:r>
              <a:t>18</a:t>
            </a:r>
          </a:p>
        </p:txBody>
      </p:sp>
      <p:sp>
        <p:nvSpPr>
          <p:cNvPr id="12" name="TextBox 11"/>
          <p:cNvSpPr txBox="1"/>
          <p:nvPr/>
        </p:nvSpPr>
        <p:spPr>
          <a:xfrm>
            <a:off x="4434840" y="3136392"/>
            <a:ext cx="3291840" cy="502920"/>
          </a:xfrm>
          <a:prstGeom prst="rect">
            <a:avLst/>
          </a:prstGeom>
          <a:noFill/>
        </p:spPr>
        <p:txBody>
          <a:bodyPr wrap="square" lIns="0" rIns="0" tIns="0" bIns="0">
            <a:spAutoFit/>
          </a:bodyPr>
          <a:lstStyle/>
          <a:p>
            <a:pPr>
              <a:spcAft>
                <a:spcPts val="500"/>
              </a:spcAft>
              <a:defRPr sz="2500" b="1">
                <a:solidFill>
                  <a:srgbClr val="FFFFFF"/>
                </a:solidFill>
                <a:latin typeface="Arial"/>
              </a:defRPr>
            </a:pPr>
            <a:r>
              <a:t>Accepted papers</a:t>
            </a:r>
          </a:p>
        </p:txBody>
      </p:sp>
      <p:sp>
        <p:nvSpPr>
          <p:cNvPr id="13" name="TextBox 12"/>
          <p:cNvSpPr txBox="1"/>
          <p:nvPr/>
        </p:nvSpPr>
        <p:spPr>
          <a:xfrm>
            <a:off x="4434840" y="3822191"/>
            <a:ext cx="3246120" cy="987552"/>
          </a:xfrm>
          <a:prstGeom prst="rect">
            <a:avLst/>
          </a:prstGeom>
          <a:noFill/>
        </p:spPr>
        <p:txBody>
          <a:bodyPr wrap="square" lIns="0" rIns="0" tIns="0" bIns="0">
            <a:spAutoFit/>
          </a:bodyPr>
          <a:lstStyle/>
          <a:p>
            <a:pPr>
              <a:spcAft>
                <a:spcPts val="500"/>
              </a:spcAft>
              <a:defRPr sz="2100" b="0">
                <a:solidFill>
                  <a:srgbClr val="C7D9E0"/>
                </a:solidFill>
                <a:latin typeface="Arial"/>
              </a:defRPr>
            </a:pPr>
            <a:r>
              <a:t>All accepted papers invited to present posters</a:t>
            </a:r>
          </a:p>
        </p:txBody>
      </p:sp>
      <p:sp>
        <p:nvSpPr>
          <p:cNvPr id="14" name="TextBox 13"/>
          <p:cNvSpPr txBox="1"/>
          <p:nvPr/>
        </p:nvSpPr>
        <p:spPr>
          <a:xfrm>
            <a:off x="8229600" y="1828800"/>
            <a:ext cx="3383280" cy="1097280"/>
          </a:xfrm>
          <a:prstGeom prst="rect">
            <a:avLst/>
          </a:prstGeom>
          <a:noFill/>
        </p:spPr>
        <p:txBody>
          <a:bodyPr wrap="square" lIns="0" rIns="0" tIns="0" bIns="0">
            <a:spAutoFit/>
          </a:bodyPr>
          <a:lstStyle/>
          <a:p>
            <a:pPr>
              <a:spcAft>
                <a:spcPts val="500"/>
              </a:spcAft>
              <a:defRPr sz="7200" b="1">
                <a:solidFill>
                  <a:srgbClr val="FFC928"/>
                </a:solidFill>
                <a:latin typeface="Arial"/>
              </a:defRPr>
            </a:pPr>
            <a:r>
              <a:t>4</a:t>
            </a:r>
          </a:p>
        </p:txBody>
      </p:sp>
      <p:sp>
        <p:nvSpPr>
          <p:cNvPr id="15" name="TextBox 14"/>
          <p:cNvSpPr txBox="1"/>
          <p:nvPr/>
        </p:nvSpPr>
        <p:spPr>
          <a:xfrm>
            <a:off x="8229600" y="3136392"/>
            <a:ext cx="3291840" cy="502920"/>
          </a:xfrm>
          <a:prstGeom prst="rect">
            <a:avLst/>
          </a:prstGeom>
          <a:noFill/>
        </p:spPr>
        <p:txBody>
          <a:bodyPr wrap="square" lIns="0" rIns="0" tIns="0" bIns="0">
            <a:spAutoFit/>
          </a:bodyPr>
          <a:lstStyle/>
          <a:p>
            <a:pPr>
              <a:spcAft>
                <a:spcPts val="500"/>
              </a:spcAft>
              <a:defRPr sz="2500" b="1">
                <a:solidFill>
                  <a:srgbClr val="FFFFFF"/>
                </a:solidFill>
                <a:latin typeface="Arial"/>
              </a:defRPr>
            </a:pPr>
            <a:r>
              <a:t>Oral presentations</a:t>
            </a:r>
          </a:p>
        </p:txBody>
      </p:sp>
      <p:sp>
        <p:nvSpPr>
          <p:cNvPr id="16" name="TextBox 15"/>
          <p:cNvSpPr txBox="1"/>
          <p:nvPr/>
        </p:nvSpPr>
        <p:spPr>
          <a:xfrm>
            <a:off x="8229600" y="3822191"/>
            <a:ext cx="3246120" cy="987552"/>
          </a:xfrm>
          <a:prstGeom prst="rect">
            <a:avLst/>
          </a:prstGeom>
          <a:noFill/>
        </p:spPr>
        <p:txBody>
          <a:bodyPr wrap="square" lIns="0" rIns="0" tIns="0" bIns="0">
            <a:spAutoFit/>
          </a:bodyPr>
          <a:lstStyle/>
          <a:p>
            <a:pPr>
              <a:spcAft>
                <a:spcPts val="500"/>
              </a:spcAft>
              <a:defRPr sz="2100" b="0">
                <a:solidFill>
                  <a:srgbClr val="C7D9E0"/>
                </a:solidFill>
                <a:latin typeface="Arial"/>
              </a:defRPr>
            </a:pPr>
            <a:r>
              <a:t>Two sessions at 09:30 and 11:00</a:t>
            </a:r>
          </a:p>
        </p:txBody>
      </p:sp>
      <p:cxnSp>
        <p:nvCxnSpPr>
          <p:cNvPr id="17" name="Connector 16"/>
          <p:cNvCxnSpPr/>
          <p:nvPr/>
        </p:nvCxnSpPr>
        <p:spPr>
          <a:xfrm>
            <a:off x="640080" y="5166360"/>
            <a:ext cx="10881360" cy="0"/>
          </a:xfrm>
          <a:prstGeom prst="line">
            <a:avLst/>
          </a:prstGeom>
          <a:ln w="25400">
            <a:solidFill>
              <a:srgbClr val="36505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522976"/>
            <a:ext cx="10972800" cy="502920"/>
          </a:xfrm>
          <a:prstGeom prst="rect">
            <a:avLst/>
          </a:prstGeom>
          <a:noFill/>
        </p:spPr>
        <p:txBody>
          <a:bodyPr wrap="square" lIns="0" rIns="0" tIns="0" bIns="0">
            <a:spAutoFit/>
          </a:bodyPr>
          <a:lstStyle/>
          <a:p>
            <a:pPr>
              <a:spcAft>
                <a:spcPts val="500"/>
              </a:spcAft>
              <a:defRPr sz="2300" b="0">
                <a:solidFill>
                  <a:srgbClr val="FFFFFF"/>
                </a:solidFill>
                <a:latin typeface="Arial"/>
              </a:defRPr>
            </a:pPr>
            <a:r>
              <a:t>10:30  Posters + coffee     •     11:20  Debate     •     12:25  Award + closing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SEPTEMBER 27 • ALL TIMES EDT</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The morning’s program</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11</a:t>
            </a:r>
          </a:p>
        </p:txBody>
      </p:sp>
      <p:sp>
        <p:nvSpPr>
          <p:cNvPr id="8" name="TextBox 7"/>
          <p:cNvSpPr txBox="1"/>
          <p:nvPr/>
        </p:nvSpPr>
        <p:spPr>
          <a:xfrm>
            <a:off x="594360" y="1783080"/>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08:25</a:t>
            </a:r>
          </a:p>
        </p:txBody>
      </p:sp>
      <p:sp>
        <p:nvSpPr>
          <p:cNvPr id="9" name="TextBox 8"/>
          <p:cNvSpPr txBox="1"/>
          <p:nvPr/>
        </p:nvSpPr>
        <p:spPr>
          <a:xfrm>
            <a:off x="1618488" y="1783080"/>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Introductory remarks</a:t>
            </a:r>
          </a:p>
        </p:txBody>
      </p:sp>
      <p:sp>
        <p:nvSpPr>
          <p:cNvPr id="10" name="TextBox 9"/>
          <p:cNvSpPr txBox="1"/>
          <p:nvPr/>
        </p:nvSpPr>
        <p:spPr>
          <a:xfrm>
            <a:off x="1618488" y="2148840"/>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Organizers</a:t>
            </a:r>
          </a:p>
        </p:txBody>
      </p:sp>
      <p:sp>
        <p:nvSpPr>
          <p:cNvPr id="11" name="TextBox 10"/>
          <p:cNvSpPr txBox="1"/>
          <p:nvPr/>
        </p:nvSpPr>
        <p:spPr>
          <a:xfrm>
            <a:off x="594360" y="2496312"/>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08:30</a:t>
            </a:r>
          </a:p>
        </p:txBody>
      </p:sp>
      <p:sp>
        <p:nvSpPr>
          <p:cNvPr id="12" name="TextBox 11"/>
          <p:cNvSpPr txBox="1"/>
          <p:nvPr/>
        </p:nvSpPr>
        <p:spPr>
          <a:xfrm>
            <a:off x="1618488" y="2496312"/>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Alessandra Sciutti</a:t>
            </a:r>
          </a:p>
        </p:txBody>
      </p:sp>
      <p:sp>
        <p:nvSpPr>
          <p:cNvPr id="13" name="TextBox 12"/>
          <p:cNvSpPr txBox="1"/>
          <p:nvPr/>
        </p:nvSpPr>
        <p:spPr>
          <a:xfrm>
            <a:off x="1618488" y="2862072"/>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Keynote</a:t>
            </a:r>
          </a:p>
        </p:txBody>
      </p:sp>
      <p:sp>
        <p:nvSpPr>
          <p:cNvPr id="14" name="TextBox 13"/>
          <p:cNvSpPr txBox="1"/>
          <p:nvPr/>
        </p:nvSpPr>
        <p:spPr>
          <a:xfrm>
            <a:off x="594360" y="3209544"/>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08:50</a:t>
            </a:r>
          </a:p>
        </p:txBody>
      </p:sp>
      <p:sp>
        <p:nvSpPr>
          <p:cNvPr id="15" name="TextBox 14"/>
          <p:cNvSpPr txBox="1"/>
          <p:nvPr/>
        </p:nvSpPr>
        <p:spPr>
          <a:xfrm>
            <a:off x="1618488" y="3209544"/>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Sebastian Scherer</a:t>
            </a:r>
          </a:p>
        </p:txBody>
      </p:sp>
      <p:sp>
        <p:nvSpPr>
          <p:cNvPr id="16" name="TextBox 15"/>
          <p:cNvSpPr txBox="1"/>
          <p:nvPr/>
        </p:nvSpPr>
        <p:spPr>
          <a:xfrm>
            <a:off x="1618488" y="3575303"/>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Keynote</a:t>
            </a:r>
          </a:p>
        </p:txBody>
      </p:sp>
      <p:sp>
        <p:nvSpPr>
          <p:cNvPr id="17" name="TextBox 16"/>
          <p:cNvSpPr txBox="1"/>
          <p:nvPr/>
        </p:nvSpPr>
        <p:spPr>
          <a:xfrm>
            <a:off x="594360" y="3922776"/>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09:10</a:t>
            </a:r>
          </a:p>
        </p:txBody>
      </p:sp>
      <p:sp>
        <p:nvSpPr>
          <p:cNvPr id="18" name="TextBox 17"/>
          <p:cNvSpPr txBox="1"/>
          <p:nvPr/>
        </p:nvSpPr>
        <p:spPr>
          <a:xfrm>
            <a:off x="1618488" y="3922776"/>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Jiayuan Mao</a:t>
            </a:r>
          </a:p>
        </p:txBody>
      </p:sp>
      <p:sp>
        <p:nvSpPr>
          <p:cNvPr id="19" name="TextBox 18"/>
          <p:cNvSpPr txBox="1"/>
          <p:nvPr/>
        </p:nvSpPr>
        <p:spPr>
          <a:xfrm>
            <a:off x="1618488" y="4288536"/>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Keynote</a:t>
            </a:r>
          </a:p>
        </p:txBody>
      </p:sp>
      <p:sp>
        <p:nvSpPr>
          <p:cNvPr id="20" name="TextBox 19"/>
          <p:cNvSpPr txBox="1"/>
          <p:nvPr/>
        </p:nvSpPr>
        <p:spPr>
          <a:xfrm>
            <a:off x="594360" y="4636008"/>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09:30</a:t>
            </a:r>
          </a:p>
        </p:txBody>
      </p:sp>
      <p:sp>
        <p:nvSpPr>
          <p:cNvPr id="21" name="TextBox 20"/>
          <p:cNvSpPr txBox="1"/>
          <p:nvPr/>
        </p:nvSpPr>
        <p:spPr>
          <a:xfrm>
            <a:off x="1618488" y="4636008"/>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Oral talks • Session 1</a:t>
            </a:r>
          </a:p>
        </p:txBody>
      </p:sp>
      <p:sp>
        <p:nvSpPr>
          <p:cNvPr id="22" name="TextBox 21"/>
          <p:cNvSpPr txBox="1"/>
          <p:nvPr/>
        </p:nvSpPr>
        <p:spPr>
          <a:xfrm>
            <a:off x="1618488" y="5001768"/>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iFlax / Logic-VLA</a:t>
            </a:r>
          </a:p>
        </p:txBody>
      </p:sp>
      <p:sp>
        <p:nvSpPr>
          <p:cNvPr id="23" name="TextBox 22"/>
          <p:cNvSpPr txBox="1"/>
          <p:nvPr/>
        </p:nvSpPr>
        <p:spPr>
          <a:xfrm>
            <a:off x="594360" y="5349240"/>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09:50</a:t>
            </a:r>
          </a:p>
        </p:txBody>
      </p:sp>
      <p:sp>
        <p:nvSpPr>
          <p:cNvPr id="24" name="TextBox 23"/>
          <p:cNvSpPr txBox="1"/>
          <p:nvPr/>
        </p:nvSpPr>
        <p:spPr>
          <a:xfrm>
            <a:off x="1618488" y="5349240"/>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Yezhou (YZ) Yang</a:t>
            </a:r>
          </a:p>
        </p:txBody>
      </p:sp>
      <p:sp>
        <p:nvSpPr>
          <p:cNvPr id="25" name="TextBox 24"/>
          <p:cNvSpPr txBox="1"/>
          <p:nvPr/>
        </p:nvSpPr>
        <p:spPr>
          <a:xfrm>
            <a:off x="1618488" y="5715000"/>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Keynote</a:t>
            </a:r>
          </a:p>
        </p:txBody>
      </p:sp>
      <p:sp>
        <p:nvSpPr>
          <p:cNvPr id="26" name="TextBox 25"/>
          <p:cNvSpPr txBox="1"/>
          <p:nvPr/>
        </p:nvSpPr>
        <p:spPr>
          <a:xfrm>
            <a:off x="6336792" y="1783080"/>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10:10</a:t>
            </a:r>
          </a:p>
        </p:txBody>
      </p:sp>
      <p:sp>
        <p:nvSpPr>
          <p:cNvPr id="27" name="TextBox 26"/>
          <p:cNvSpPr txBox="1"/>
          <p:nvPr/>
        </p:nvSpPr>
        <p:spPr>
          <a:xfrm>
            <a:off x="7360920" y="1783080"/>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Joyce Chai</a:t>
            </a:r>
          </a:p>
        </p:txBody>
      </p:sp>
      <p:sp>
        <p:nvSpPr>
          <p:cNvPr id="28" name="TextBox 27"/>
          <p:cNvSpPr txBox="1"/>
          <p:nvPr/>
        </p:nvSpPr>
        <p:spPr>
          <a:xfrm>
            <a:off x="7360920" y="2148840"/>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Keynote</a:t>
            </a:r>
          </a:p>
        </p:txBody>
      </p:sp>
      <p:sp>
        <p:nvSpPr>
          <p:cNvPr id="29" name="TextBox 28"/>
          <p:cNvSpPr txBox="1"/>
          <p:nvPr/>
        </p:nvSpPr>
        <p:spPr>
          <a:xfrm>
            <a:off x="6336792" y="2496312"/>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10:30</a:t>
            </a:r>
          </a:p>
        </p:txBody>
      </p:sp>
      <p:sp>
        <p:nvSpPr>
          <p:cNvPr id="30" name="TextBox 29"/>
          <p:cNvSpPr txBox="1"/>
          <p:nvPr/>
        </p:nvSpPr>
        <p:spPr>
          <a:xfrm>
            <a:off x="7360920" y="2496312"/>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Coffee + poster session</a:t>
            </a:r>
          </a:p>
        </p:txBody>
      </p:sp>
      <p:sp>
        <p:nvSpPr>
          <p:cNvPr id="31" name="TextBox 30"/>
          <p:cNvSpPr txBox="1"/>
          <p:nvPr/>
        </p:nvSpPr>
        <p:spPr>
          <a:xfrm>
            <a:off x="7360920" y="2862072"/>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Meet the authors</a:t>
            </a:r>
          </a:p>
        </p:txBody>
      </p:sp>
      <p:sp>
        <p:nvSpPr>
          <p:cNvPr id="32" name="TextBox 31"/>
          <p:cNvSpPr txBox="1"/>
          <p:nvPr/>
        </p:nvSpPr>
        <p:spPr>
          <a:xfrm>
            <a:off x="6336792" y="3209544"/>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11:00</a:t>
            </a:r>
          </a:p>
        </p:txBody>
      </p:sp>
      <p:sp>
        <p:nvSpPr>
          <p:cNvPr id="33" name="TextBox 32"/>
          <p:cNvSpPr txBox="1"/>
          <p:nvPr/>
        </p:nvSpPr>
        <p:spPr>
          <a:xfrm>
            <a:off x="7360920" y="3209544"/>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Oral talks • Session 2</a:t>
            </a:r>
          </a:p>
        </p:txBody>
      </p:sp>
      <p:sp>
        <p:nvSpPr>
          <p:cNvPr id="34" name="TextBox 33"/>
          <p:cNvSpPr txBox="1"/>
          <p:nvPr/>
        </p:nvSpPr>
        <p:spPr>
          <a:xfrm>
            <a:off x="7360920" y="3575303"/>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Conformal state estimation / ActionGround</a:t>
            </a:r>
          </a:p>
        </p:txBody>
      </p:sp>
      <p:sp>
        <p:nvSpPr>
          <p:cNvPr id="35" name="TextBox 34"/>
          <p:cNvSpPr txBox="1"/>
          <p:nvPr/>
        </p:nvSpPr>
        <p:spPr>
          <a:xfrm>
            <a:off x="6336792" y="3922776"/>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11:20</a:t>
            </a:r>
          </a:p>
        </p:txBody>
      </p:sp>
      <p:sp>
        <p:nvSpPr>
          <p:cNvPr id="36" name="TextBox 35"/>
          <p:cNvSpPr txBox="1"/>
          <p:nvPr/>
        </p:nvSpPr>
        <p:spPr>
          <a:xfrm>
            <a:off x="7360920" y="3922776"/>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Panel debate</a:t>
            </a:r>
          </a:p>
        </p:txBody>
      </p:sp>
      <p:sp>
        <p:nvSpPr>
          <p:cNvPr id="37" name="TextBox 36"/>
          <p:cNvSpPr txBox="1"/>
          <p:nvPr/>
        </p:nvSpPr>
        <p:spPr>
          <a:xfrm>
            <a:off x="7360920" y="4288536"/>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Semantics, data, and human input</a:t>
            </a:r>
          </a:p>
        </p:txBody>
      </p:sp>
      <p:sp>
        <p:nvSpPr>
          <p:cNvPr id="38" name="TextBox 37"/>
          <p:cNvSpPr txBox="1"/>
          <p:nvPr/>
        </p:nvSpPr>
        <p:spPr>
          <a:xfrm>
            <a:off x="6336792" y="4636008"/>
            <a:ext cx="850392" cy="365760"/>
          </a:xfrm>
          <a:prstGeom prst="rect">
            <a:avLst/>
          </a:prstGeom>
          <a:noFill/>
        </p:spPr>
        <p:txBody>
          <a:bodyPr wrap="square" lIns="0" rIns="0" tIns="0" bIns="0">
            <a:spAutoFit/>
          </a:bodyPr>
          <a:lstStyle/>
          <a:p>
            <a:pPr>
              <a:spcAft>
                <a:spcPts val="500"/>
              </a:spcAft>
              <a:defRPr sz="2300" b="1">
                <a:solidFill>
                  <a:srgbClr val="007E86"/>
                </a:solidFill>
                <a:latin typeface="Arial"/>
              </a:defRPr>
            </a:pPr>
            <a:r>
              <a:t>12:25</a:t>
            </a:r>
          </a:p>
        </p:txBody>
      </p:sp>
      <p:sp>
        <p:nvSpPr>
          <p:cNvPr id="39" name="TextBox 38"/>
          <p:cNvSpPr txBox="1"/>
          <p:nvPr/>
        </p:nvSpPr>
        <p:spPr>
          <a:xfrm>
            <a:off x="7360920" y="4636008"/>
            <a:ext cx="4389120" cy="356616"/>
          </a:xfrm>
          <a:prstGeom prst="rect">
            <a:avLst/>
          </a:prstGeom>
          <a:noFill/>
        </p:spPr>
        <p:txBody>
          <a:bodyPr wrap="square" lIns="0" rIns="0" tIns="0" bIns="0">
            <a:spAutoFit/>
          </a:bodyPr>
          <a:lstStyle/>
          <a:p>
            <a:pPr>
              <a:spcAft>
                <a:spcPts val="500"/>
              </a:spcAft>
              <a:defRPr sz="2100" b="1">
                <a:solidFill>
                  <a:srgbClr val="173343"/>
                </a:solidFill>
                <a:latin typeface="Arial"/>
              </a:defRPr>
            </a:pPr>
            <a:r>
              <a:t>Best Paper Award + closing</a:t>
            </a:r>
          </a:p>
        </p:txBody>
      </p:sp>
      <p:sp>
        <p:nvSpPr>
          <p:cNvPr id="40" name="TextBox 39"/>
          <p:cNvSpPr txBox="1"/>
          <p:nvPr/>
        </p:nvSpPr>
        <p:spPr>
          <a:xfrm>
            <a:off x="7360920" y="5001768"/>
            <a:ext cx="4389120" cy="274320"/>
          </a:xfrm>
          <a:prstGeom prst="rect">
            <a:avLst/>
          </a:prstGeom>
          <a:noFill/>
        </p:spPr>
        <p:txBody>
          <a:bodyPr wrap="square" lIns="0" rIns="0" tIns="0" bIns="0">
            <a:spAutoFit/>
          </a:bodyPr>
          <a:lstStyle/>
          <a:p>
            <a:pPr>
              <a:spcAft>
                <a:spcPts val="500"/>
              </a:spcAft>
              <a:defRPr sz="1400" b="0">
                <a:solidFill>
                  <a:srgbClr val="536976"/>
                </a:solidFill>
                <a:latin typeface="Arial"/>
              </a:defRPr>
            </a:pPr>
            <a:r>
              <a:t>Organizers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PAPER TRACK</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Four contributed oral presentations</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12</a:t>
            </a:r>
          </a:p>
        </p:txBody>
      </p:sp>
      <p:sp>
        <p:nvSpPr>
          <p:cNvPr id="8" name="TextBox 7"/>
          <p:cNvSpPr txBox="1"/>
          <p:nvPr/>
        </p:nvSpPr>
        <p:spPr>
          <a:xfrm>
            <a:off x="640080" y="1847088"/>
            <a:ext cx="822960" cy="365760"/>
          </a:xfrm>
          <a:prstGeom prst="rect">
            <a:avLst/>
          </a:prstGeom>
          <a:noFill/>
        </p:spPr>
        <p:txBody>
          <a:bodyPr wrap="square" lIns="0" rIns="0" tIns="0" bIns="0">
            <a:spAutoFit/>
          </a:bodyPr>
          <a:lstStyle/>
          <a:p>
            <a:pPr>
              <a:spcAft>
                <a:spcPts val="500"/>
              </a:spcAft>
              <a:defRPr sz="2200" b="1">
                <a:solidFill>
                  <a:srgbClr val="007E86"/>
                </a:solidFill>
                <a:latin typeface="Arial"/>
              </a:defRPr>
            </a:pPr>
            <a:r>
              <a:t>09:30</a:t>
            </a:r>
          </a:p>
        </p:txBody>
      </p:sp>
      <p:sp>
        <p:nvSpPr>
          <p:cNvPr id="9" name="TextBox 8">
            <a:hlinkClick r:id="rId3"/>
          </p:cNvPr>
          <p:cNvSpPr txBox="1"/>
          <p:nvPr/>
        </p:nvSpPr>
        <p:spPr>
          <a:xfrm>
            <a:off x="1755648" y="1847088"/>
            <a:ext cx="9784080" cy="822960"/>
          </a:xfrm>
          <a:prstGeom prst="rect">
            <a:avLst/>
          </a:prstGeom>
          <a:noFill/>
        </p:spPr>
        <p:txBody>
          <a:bodyPr wrap="square" lIns="0" rIns="0" tIns="0" bIns="0">
            <a:spAutoFit/>
          </a:bodyPr>
          <a:lstStyle/>
          <a:p>
            <a:pPr>
              <a:spcAft>
                <a:spcPts val="500"/>
              </a:spcAft>
              <a:defRPr sz="2300" b="1">
                <a:solidFill>
                  <a:srgbClr val="173343"/>
                </a:solidFill>
                <a:latin typeface="Arial"/>
              </a:defRPr>
            </a:pPr>
            <a:r>
              <a:t>iFlax: Neuro-Symbolic Learning for Long-Horizon Task Planning Under Complex Logical Constraints</a:t>
            </a:r>
          </a:p>
        </p:txBody>
      </p:sp>
      <p:sp>
        <p:nvSpPr>
          <p:cNvPr id="10" name="TextBox 9"/>
          <p:cNvSpPr txBox="1"/>
          <p:nvPr/>
        </p:nvSpPr>
        <p:spPr>
          <a:xfrm>
            <a:off x="640080" y="2871216"/>
            <a:ext cx="822960" cy="365760"/>
          </a:xfrm>
          <a:prstGeom prst="rect">
            <a:avLst/>
          </a:prstGeom>
          <a:noFill/>
        </p:spPr>
        <p:txBody>
          <a:bodyPr wrap="square" lIns="0" rIns="0" tIns="0" bIns="0">
            <a:spAutoFit/>
          </a:bodyPr>
          <a:lstStyle/>
          <a:p>
            <a:pPr>
              <a:spcAft>
                <a:spcPts val="500"/>
              </a:spcAft>
              <a:defRPr sz="2200" b="1">
                <a:solidFill>
                  <a:srgbClr val="007E86"/>
                </a:solidFill>
                <a:latin typeface="Arial"/>
              </a:defRPr>
            </a:pPr>
            <a:r>
              <a:t>09:30</a:t>
            </a:r>
          </a:p>
        </p:txBody>
      </p:sp>
      <p:sp>
        <p:nvSpPr>
          <p:cNvPr id="11" name="TextBox 10">
            <a:hlinkClick r:id="rId4"/>
          </p:cNvPr>
          <p:cNvSpPr txBox="1"/>
          <p:nvPr/>
        </p:nvSpPr>
        <p:spPr>
          <a:xfrm>
            <a:off x="1755648" y="2871216"/>
            <a:ext cx="9784080" cy="822960"/>
          </a:xfrm>
          <a:prstGeom prst="rect">
            <a:avLst/>
          </a:prstGeom>
          <a:noFill/>
        </p:spPr>
        <p:txBody>
          <a:bodyPr wrap="square" lIns="0" rIns="0" tIns="0" bIns="0">
            <a:spAutoFit/>
          </a:bodyPr>
          <a:lstStyle/>
          <a:p>
            <a:pPr>
              <a:spcAft>
                <a:spcPts val="500"/>
              </a:spcAft>
              <a:defRPr sz="2300" b="1">
                <a:solidFill>
                  <a:srgbClr val="173343"/>
                </a:solidFill>
                <a:latin typeface="Arial"/>
              </a:defRPr>
            </a:pPr>
            <a:r>
              <a:t>Logic-VLA: A Temporal Logic Conditioned Vision-Language-Action Model</a:t>
            </a:r>
          </a:p>
        </p:txBody>
      </p:sp>
      <p:sp>
        <p:nvSpPr>
          <p:cNvPr id="12" name="TextBox 11"/>
          <p:cNvSpPr txBox="1"/>
          <p:nvPr/>
        </p:nvSpPr>
        <p:spPr>
          <a:xfrm>
            <a:off x="640080" y="3895344"/>
            <a:ext cx="822960" cy="365760"/>
          </a:xfrm>
          <a:prstGeom prst="rect">
            <a:avLst/>
          </a:prstGeom>
          <a:noFill/>
        </p:spPr>
        <p:txBody>
          <a:bodyPr wrap="square" lIns="0" rIns="0" tIns="0" bIns="0">
            <a:spAutoFit/>
          </a:bodyPr>
          <a:lstStyle/>
          <a:p>
            <a:pPr>
              <a:spcAft>
                <a:spcPts val="500"/>
              </a:spcAft>
              <a:defRPr sz="2200" b="1">
                <a:solidFill>
                  <a:srgbClr val="007E86"/>
                </a:solidFill>
                <a:latin typeface="Arial"/>
              </a:defRPr>
            </a:pPr>
            <a:r>
              <a:t>11:00</a:t>
            </a:r>
          </a:p>
        </p:txBody>
      </p:sp>
      <p:sp>
        <p:nvSpPr>
          <p:cNvPr id="13" name="TextBox 12">
            <a:hlinkClick r:id="rId5"/>
          </p:cNvPr>
          <p:cNvSpPr txBox="1"/>
          <p:nvPr/>
        </p:nvSpPr>
        <p:spPr>
          <a:xfrm>
            <a:off x="1755648" y="3895344"/>
            <a:ext cx="9784080" cy="822960"/>
          </a:xfrm>
          <a:prstGeom prst="rect">
            <a:avLst/>
          </a:prstGeom>
          <a:noFill/>
        </p:spPr>
        <p:txBody>
          <a:bodyPr wrap="square" lIns="0" rIns="0" tIns="0" bIns="0">
            <a:spAutoFit/>
          </a:bodyPr>
          <a:lstStyle/>
          <a:p>
            <a:pPr>
              <a:spcAft>
                <a:spcPts val="500"/>
              </a:spcAft>
              <a:defRPr sz="2300" b="1">
                <a:solidFill>
                  <a:srgbClr val="173343"/>
                </a:solidFill>
                <a:latin typeface="Arial"/>
              </a:defRPr>
            </a:pPr>
            <a:r>
              <a:t>Task-Aware Conformal State Estimation for Reliable Robotic Planning</a:t>
            </a:r>
          </a:p>
        </p:txBody>
      </p:sp>
      <p:sp>
        <p:nvSpPr>
          <p:cNvPr id="14" name="TextBox 13"/>
          <p:cNvSpPr txBox="1"/>
          <p:nvPr/>
        </p:nvSpPr>
        <p:spPr>
          <a:xfrm>
            <a:off x="640080" y="4919472"/>
            <a:ext cx="822960" cy="365760"/>
          </a:xfrm>
          <a:prstGeom prst="rect">
            <a:avLst/>
          </a:prstGeom>
          <a:noFill/>
        </p:spPr>
        <p:txBody>
          <a:bodyPr wrap="square" lIns="0" rIns="0" tIns="0" bIns="0">
            <a:spAutoFit/>
          </a:bodyPr>
          <a:lstStyle/>
          <a:p>
            <a:pPr>
              <a:spcAft>
                <a:spcPts val="500"/>
              </a:spcAft>
              <a:defRPr sz="2200" b="1">
                <a:solidFill>
                  <a:srgbClr val="007E86"/>
                </a:solidFill>
                <a:latin typeface="Arial"/>
              </a:defRPr>
            </a:pPr>
            <a:r>
              <a:t>11:00</a:t>
            </a:r>
          </a:p>
        </p:txBody>
      </p:sp>
      <p:sp>
        <p:nvSpPr>
          <p:cNvPr id="15" name="TextBox 14">
            <a:hlinkClick r:id="rId6"/>
          </p:cNvPr>
          <p:cNvSpPr txBox="1"/>
          <p:nvPr/>
        </p:nvSpPr>
        <p:spPr>
          <a:xfrm>
            <a:off x="1755648" y="4919472"/>
            <a:ext cx="9784080" cy="822960"/>
          </a:xfrm>
          <a:prstGeom prst="rect">
            <a:avLst/>
          </a:prstGeom>
          <a:noFill/>
        </p:spPr>
        <p:txBody>
          <a:bodyPr wrap="square" lIns="0" rIns="0" tIns="0" bIns="0">
            <a:spAutoFit/>
          </a:bodyPr>
          <a:lstStyle/>
          <a:p>
            <a:pPr>
              <a:spcAft>
                <a:spcPts val="500"/>
              </a:spcAft>
              <a:defRPr sz="2300" b="1">
                <a:solidFill>
                  <a:srgbClr val="173343"/>
                </a:solidFill>
                <a:latin typeface="Arial"/>
              </a:defRPr>
            </a:pPr>
            <a:r>
              <a:t>ActionGround: Training-Free Runtime Refinement of Frozen VLA Policies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10:30 • COFFEE + POSTERS</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Explore the poster track  /  1 of 2</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13</a:t>
            </a:r>
          </a:p>
        </p:txBody>
      </p:sp>
      <p:sp>
        <p:nvSpPr>
          <p:cNvPr id="8" name="Rectangle 7"/>
          <p:cNvSpPr/>
          <p:nvPr/>
        </p:nvSpPr>
        <p:spPr>
          <a:xfrm>
            <a:off x="640080" y="1828800"/>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r:id="rId3"/>
          </p:cNvPr>
          <p:cNvSpPr txBox="1"/>
          <p:nvPr/>
        </p:nvSpPr>
        <p:spPr>
          <a:xfrm>
            <a:off x="896112" y="1755648"/>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CLAMP: Constrained Decoding for Vision-Language Embodied Planning</a:t>
            </a:r>
          </a:p>
        </p:txBody>
      </p:sp>
      <p:sp>
        <p:nvSpPr>
          <p:cNvPr id="10" name="Rectangle 9"/>
          <p:cNvSpPr/>
          <p:nvPr/>
        </p:nvSpPr>
        <p:spPr>
          <a:xfrm>
            <a:off x="640080" y="2455164"/>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r:id="rId4"/>
          </p:cNvPr>
          <p:cNvSpPr txBox="1"/>
          <p:nvPr/>
        </p:nvSpPr>
        <p:spPr>
          <a:xfrm>
            <a:off x="896112" y="2382012"/>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From Words to Safety: Language-Conditioned Safety Filtering for Robot Navigation</a:t>
            </a:r>
          </a:p>
        </p:txBody>
      </p:sp>
      <p:sp>
        <p:nvSpPr>
          <p:cNvPr id="12" name="Rectangle 11"/>
          <p:cNvSpPr/>
          <p:nvPr/>
        </p:nvSpPr>
        <p:spPr>
          <a:xfrm>
            <a:off x="640080" y="3081528"/>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a:hlinkClick r:id="rId5"/>
          </p:cNvPr>
          <p:cNvSpPr txBox="1"/>
          <p:nvPr/>
        </p:nvSpPr>
        <p:spPr>
          <a:xfrm>
            <a:off x="896112" y="3008376"/>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Learning to Coach: A Structured Framework for Human Skill Development</a:t>
            </a:r>
          </a:p>
        </p:txBody>
      </p:sp>
      <p:sp>
        <p:nvSpPr>
          <p:cNvPr id="14" name="Rectangle 13"/>
          <p:cNvSpPr/>
          <p:nvPr/>
        </p:nvSpPr>
        <p:spPr>
          <a:xfrm>
            <a:off x="640080" y="3707891"/>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r:id="rId6"/>
          </p:cNvPr>
          <p:cNvSpPr txBox="1"/>
          <p:nvPr/>
        </p:nvSpPr>
        <p:spPr>
          <a:xfrm>
            <a:off x="896112" y="3634740"/>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RiskGuard: A Revision Method Based on Unified Differentiable Risk Fields for Safe Autonomous Driving</a:t>
            </a:r>
          </a:p>
        </p:txBody>
      </p:sp>
      <p:sp>
        <p:nvSpPr>
          <p:cNvPr id="16" name="Rectangle 15"/>
          <p:cNvSpPr/>
          <p:nvPr/>
        </p:nvSpPr>
        <p:spPr>
          <a:xfrm>
            <a:off x="640080" y="4334256"/>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r:id="rId7"/>
          </p:cNvPr>
          <p:cNvSpPr txBox="1"/>
          <p:nvPr/>
        </p:nvSpPr>
        <p:spPr>
          <a:xfrm>
            <a:off x="896112" y="4261104"/>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StageCraft: Execution Aware Mitigation of Distractor and Obstruction Failures in VLA Models</a:t>
            </a:r>
          </a:p>
        </p:txBody>
      </p:sp>
      <p:sp>
        <p:nvSpPr>
          <p:cNvPr id="18" name="Rectangle 17"/>
          <p:cNvSpPr/>
          <p:nvPr/>
        </p:nvSpPr>
        <p:spPr>
          <a:xfrm>
            <a:off x="640080" y="4960620"/>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r:id="rId8"/>
          </p:cNvPr>
          <p:cNvSpPr txBox="1"/>
          <p:nvPr/>
        </p:nvSpPr>
        <p:spPr>
          <a:xfrm>
            <a:off x="896112" y="4887468"/>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Combining Large Language Models and Gradient-Free Optimization for Automatic Control Policy Synthesis</a:t>
            </a:r>
          </a:p>
        </p:txBody>
      </p:sp>
      <p:sp>
        <p:nvSpPr>
          <p:cNvPr id="20" name="Rectangle 19"/>
          <p:cNvSpPr/>
          <p:nvPr/>
        </p:nvSpPr>
        <p:spPr>
          <a:xfrm>
            <a:off x="640080" y="5586984"/>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r:id="rId9"/>
          </p:cNvPr>
          <p:cNvSpPr txBox="1"/>
          <p:nvPr/>
        </p:nvSpPr>
        <p:spPr>
          <a:xfrm>
            <a:off x="896112" y="5513832"/>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PROTEA: Securing Robot Task Planning and Execution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10:30 • COFFEE + POSTERS</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Explore the poster track  /  2 of 2</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14</a:t>
            </a:r>
          </a:p>
        </p:txBody>
      </p:sp>
      <p:sp>
        <p:nvSpPr>
          <p:cNvPr id="8" name="Rectangle 7"/>
          <p:cNvSpPr/>
          <p:nvPr/>
        </p:nvSpPr>
        <p:spPr>
          <a:xfrm>
            <a:off x="640080" y="1828800"/>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r:id="rId3"/>
          </p:cNvPr>
          <p:cNvSpPr txBox="1"/>
          <p:nvPr/>
        </p:nvSpPr>
        <p:spPr>
          <a:xfrm>
            <a:off x="896112" y="1755648"/>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Specification-Scoped Conformal Grounding for Symbolic Safety Shields</a:t>
            </a:r>
          </a:p>
        </p:txBody>
      </p:sp>
      <p:sp>
        <p:nvSpPr>
          <p:cNvPr id="10" name="Rectangle 9"/>
          <p:cNvSpPr/>
          <p:nvPr/>
        </p:nvSpPr>
        <p:spPr>
          <a:xfrm>
            <a:off x="640080" y="2455164"/>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r:id="rId4"/>
          </p:cNvPr>
          <p:cNvSpPr txBox="1"/>
          <p:nvPr/>
        </p:nvSpPr>
        <p:spPr>
          <a:xfrm>
            <a:off x="896112" y="2382012"/>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IFG: Internet-Scale Guidance for Functional Grasping Generation</a:t>
            </a:r>
          </a:p>
        </p:txBody>
      </p:sp>
      <p:sp>
        <p:nvSpPr>
          <p:cNvPr id="12" name="Rectangle 11"/>
          <p:cNvSpPr/>
          <p:nvPr/>
        </p:nvSpPr>
        <p:spPr>
          <a:xfrm>
            <a:off x="640080" y="3081528"/>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a:hlinkClick r:id="rId5"/>
          </p:cNvPr>
          <p:cNvSpPr txBox="1"/>
          <p:nvPr/>
        </p:nvSpPr>
        <p:spPr>
          <a:xfrm>
            <a:off x="896112" y="3008376"/>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Towards a Modular Ontology for Monitoring and Correcting Agentic Behavior: The Onto-Task Ontology</a:t>
            </a:r>
          </a:p>
        </p:txBody>
      </p:sp>
      <p:sp>
        <p:nvSpPr>
          <p:cNvPr id="14" name="Rectangle 13"/>
          <p:cNvSpPr/>
          <p:nvPr/>
        </p:nvSpPr>
        <p:spPr>
          <a:xfrm>
            <a:off x="640080" y="3707891"/>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r:id="rId6"/>
          </p:cNvPr>
          <p:cNvSpPr txBox="1"/>
          <p:nvPr/>
        </p:nvSpPr>
        <p:spPr>
          <a:xfrm>
            <a:off x="896112" y="3634740"/>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Learning the Right Abstraction for Norm Discovery</a:t>
            </a:r>
          </a:p>
        </p:txBody>
      </p:sp>
      <p:sp>
        <p:nvSpPr>
          <p:cNvPr id="16" name="Rectangle 15"/>
          <p:cNvSpPr/>
          <p:nvPr/>
        </p:nvSpPr>
        <p:spPr>
          <a:xfrm>
            <a:off x="640080" y="4334256"/>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r:id="rId7"/>
          </p:cNvPr>
          <p:cNvSpPr txBox="1"/>
          <p:nvPr/>
        </p:nvSpPr>
        <p:spPr>
          <a:xfrm>
            <a:off x="896112" y="4261104"/>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Beyond End-Task Success: How to Audit Visual Experience Retrieval in Robotics</a:t>
            </a:r>
          </a:p>
        </p:txBody>
      </p:sp>
      <p:sp>
        <p:nvSpPr>
          <p:cNvPr id="18" name="Rectangle 17"/>
          <p:cNvSpPr/>
          <p:nvPr/>
        </p:nvSpPr>
        <p:spPr>
          <a:xfrm>
            <a:off x="640080" y="4960620"/>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r:id="rId8"/>
          </p:cNvPr>
          <p:cNvSpPr txBox="1"/>
          <p:nvPr/>
        </p:nvSpPr>
        <p:spPr>
          <a:xfrm>
            <a:off x="896112" y="4887468"/>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VLM-Guided Semantic Safety for Onboard Aerial Autonomy</a:t>
            </a:r>
          </a:p>
        </p:txBody>
      </p:sp>
      <p:sp>
        <p:nvSpPr>
          <p:cNvPr id="20" name="Rectangle 19"/>
          <p:cNvSpPr/>
          <p:nvPr/>
        </p:nvSpPr>
        <p:spPr>
          <a:xfrm>
            <a:off x="640080" y="5586984"/>
            <a:ext cx="64008" cy="301752"/>
          </a:xfrm>
          <a:prstGeom prst="rect">
            <a:avLst/>
          </a:prstGeom>
          <a:solidFill>
            <a:srgbClr val="00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r:id="rId9"/>
          </p:cNvPr>
          <p:cNvSpPr txBox="1"/>
          <p:nvPr/>
        </p:nvSpPr>
        <p:spPr>
          <a:xfrm>
            <a:off x="896112" y="5513832"/>
            <a:ext cx="10698480" cy="585216"/>
          </a:xfrm>
          <a:prstGeom prst="rect">
            <a:avLst/>
          </a:prstGeom>
          <a:noFill/>
        </p:spPr>
        <p:txBody>
          <a:bodyPr wrap="square" lIns="0" rIns="0" tIns="0" bIns="0">
            <a:spAutoFit/>
          </a:bodyPr>
          <a:lstStyle/>
          <a:p>
            <a:pPr>
              <a:spcAft>
                <a:spcPts val="500"/>
              </a:spcAft>
              <a:defRPr sz="2000" b="0">
                <a:solidFill>
                  <a:srgbClr val="173343"/>
                </a:solidFill>
                <a:latin typeface="Arial"/>
              </a:defRPr>
            </a:pPr>
            <a:r>
              <a:t>Do All Skills Forget Alike? A Preliminary Study of Task-Specific Forgetting in Continual Vision-Language-Action Models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08:30 EDT • KEYNOTE</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Alessandra Sciutti</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15</a:t>
            </a:r>
          </a:p>
        </p:txBody>
      </p:sp>
      <p:pic>
        <p:nvPicPr>
          <p:cNvPr id="8" name="Picture 7" descr="sciutti.jpeg"/>
          <p:cNvPicPr>
            <a:picLocks noChangeAspect="1"/>
          </p:cNvPicPr>
          <p:nvPr/>
        </p:nvPicPr>
        <p:blipFill>
          <a:blip r:embed="rId3"/>
          <a:srcRect l="8219" r="8219"/>
          <a:stretch>
            <a:fillRect/>
          </a:stretch>
        </p:blipFill>
        <p:spPr>
          <a:xfrm>
            <a:off x="594360" y="1965960"/>
            <a:ext cx="2788920" cy="3337560"/>
          </a:xfrm>
          <a:prstGeom prst="rect">
            <a:avLst/>
          </a:prstGeom>
        </p:spPr>
      </p:pic>
      <p:sp>
        <p:nvSpPr>
          <p:cNvPr id="9" name="TextBox 8"/>
          <p:cNvSpPr txBox="1"/>
          <p:nvPr/>
        </p:nvSpPr>
        <p:spPr>
          <a:xfrm>
            <a:off x="3822191" y="1965960"/>
            <a:ext cx="7680960" cy="731520"/>
          </a:xfrm>
          <a:prstGeom prst="rect">
            <a:avLst/>
          </a:prstGeom>
          <a:noFill/>
        </p:spPr>
        <p:txBody>
          <a:bodyPr wrap="square" lIns="0" rIns="0" tIns="0" bIns="0">
            <a:spAutoFit/>
          </a:bodyPr>
          <a:lstStyle/>
          <a:p>
            <a:pPr>
              <a:spcAft>
                <a:spcPts val="500"/>
              </a:spcAft>
              <a:defRPr sz="2200" b="1">
                <a:solidFill>
                  <a:srgbClr val="007E86"/>
                </a:solidFill>
                <a:latin typeface="Arial"/>
              </a:defRPr>
            </a:pPr>
            <a:r>
              <a:t>Istituto Italiano di Tecnologia</a:t>
            </a:r>
          </a:p>
        </p:txBody>
      </p:sp>
      <p:sp>
        <p:nvSpPr>
          <p:cNvPr id="10" name="TextBox 9"/>
          <p:cNvSpPr txBox="1"/>
          <p:nvPr/>
        </p:nvSpPr>
        <p:spPr>
          <a:xfrm>
            <a:off x="3822191" y="2980944"/>
            <a:ext cx="7589520" cy="2468880"/>
          </a:xfrm>
          <a:prstGeom prst="rect">
            <a:avLst/>
          </a:prstGeom>
          <a:noFill/>
        </p:spPr>
        <p:txBody>
          <a:bodyPr wrap="square" lIns="0" rIns="0" tIns="0" bIns="0">
            <a:spAutoFit/>
          </a:bodyPr>
          <a:lstStyle/>
          <a:p>
            <a:pPr>
              <a:spcAft>
                <a:spcPts val="500"/>
              </a:spcAft>
              <a:defRPr sz="3300" b="1">
                <a:solidFill>
                  <a:srgbClr val="173343"/>
                </a:solidFill>
                <a:latin typeface="Arial"/>
              </a:defRPr>
            </a:pPr>
            <a:r>
              <a:t>Grounding Meaning through Embodied and Social Cognitive Development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08:50 EDT • KEYNOTE</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Sebastian Scherer</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16</a:t>
            </a:r>
          </a:p>
        </p:txBody>
      </p:sp>
      <p:pic>
        <p:nvPicPr>
          <p:cNvPr id="8" name="Picture 7" descr="scherer.jpg"/>
          <p:cNvPicPr>
            <a:picLocks noChangeAspect="1"/>
          </p:cNvPicPr>
          <p:nvPr/>
        </p:nvPicPr>
        <p:blipFill>
          <a:blip r:embed="rId3"/>
          <a:srcRect l="18560" r="18560"/>
          <a:stretch>
            <a:fillRect/>
          </a:stretch>
        </p:blipFill>
        <p:spPr>
          <a:xfrm>
            <a:off x="594360" y="1965960"/>
            <a:ext cx="2788920" cy="3337560"/>
          </a:xfrm>
          <a:prstGeom prst="rect">
            <a:avLst/>
          </a:prstGeom>
        </p:spPr>
      </p:pic>
      <p:sp>
        <p:nvSpPr>
          <p:cNvPr id="9" name="TextBox 8"/>
          <p:cNvSpPr txBox="1"/>
          <p:nvPr/>
        </p:nvSpPr>
        <p:spPr>
          <a:xfrm>
            <a:off x="3822191" y="1965960"/>
            <a:ext cx="7680960" cy="731520"/>
          </a:xfrm>
          <a:prstGeom prst="rect">
            <a:avLst/>
          </a:prstGeom>
          <a:noFill/>
        </p:spPr>
        <p:txBody>
          <a:bodyPr wrap="square" lIns="0" rIns="0" tIns="0" bIns="0">
            <a:spAutoFit/>
          </a:bodyPr>
          <a:lstStyle/>
          <a:p>
            <a:pPr>
              <a:spcAft>
                <a:spcPts val="500"/>
              </a:spcAft>
              <a:defRPr sz="2200" b="1">
                <a:solidFill>
                  <a:srgbClr val="007E86"/>
                </a:solidFill>
                <a:latin typeface="Arial"/>
              </a:defRPr>
            </a:pPr>
            <a:r>
              <a:t>Carnegie Mellon University</a:t>
            </a:r>
          </a:p>
        </p:txBody>
      </p:sp>
      <p:sp>
        <p:nvSpPr>
          <p:cNvPr id="10" name="TextBox 9"/>
          <p:cNvSpPr txBox="1"/>
          <p:nvPr/>
        </p:nvSpPr>
        <p:spPr>
          <a:xfrm>
            <a:off x="3822191" y="2980944"/>
            <a:ext cx="7589520" cy="2468880"/>
          </a:xfrm>
          <a:prstGeom prst="rect">
            <a:avLst/>
          </a:prstGeom>
          <a:noFill/>
        </p:spPr>
        <p:txBody>
          <a:bodyPr wrap="square" lIns="0" rIns="0" tIns="0" bIns="0">
            <a:spAutoFit/>
          </a:bodyPr>
          <a:lstStyle/>
          <a:p>
            <a:pPr>
              <a:spcAft>
                <a:spcPts val="500"/>
              </a:spcAft>
              <a:defRPr sz="3300" b="1">
                <a:solidFill>
                  <a:srgbClr val="173343"/>
                </a:solidFill>
                <a:latin typeface="Arial"/>
              </a:defRPr>
            </a:pPr>
            <a:r>
              <a:t>Why robots need symbols: finite memory, long horizons, and the limits of scale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09:10 EDT • KEYNOTE</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Jiayuan Mao</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17</a:t>
            </a:r>
          </a:p>
        </p:txBody>
      </p:sp>
      <p:pic>
        <p:nvPicPr>
          <p:cNvPr id="8" name="Picture 7" descr="jiayuan.jpg"/>
          <p:cNvPicPr>
            <a:picLocks noChangeAspect="1"/>
          </p:cNvPicPr>
          <p:nvPr/>
        </p:nvPicPr>
        <p:blipFill>
          <a:blip r:embed="rId3"/>
          <a:srcRect l="8219" r="8219"/>
          <a:stretch>
            <a:fillRect/>
          </a:stretch>
        </p:blipFill>
        <p:spPr>
          <a:xfrm>
            <a:off x="594360" y="1965960"/>
            <a:ext cx="2788920" cy="3337560"/>
          </a:xfrm>
          <a:prstGeom prst="rect">
            <a:avLst/>
          </a:prstGeom>
        </p:spPr>
      </p:pic>
      <p:sp>
        <p:nvSpPr>
          <p:cNvPr id="9" name="TextBox 8"/>
          <p:cNvSpPr txBox="1"/>
          <p:nvPr/>
        </p:nvSpPr>
        <p:spPr>
          <a:xfrm>
            <a:off x="3822191" y="1965960"/>
            <a:ext cx="7680960" cy="731520"/>
          </a:xfrm>
          <a:prstGeom prst="rect">
            <a:avLst/>
          </a:prstGeom>
          <a:noFill/>
        </p:spPr>
        <p:txBody>
          <a:bodyPr wrap="square" lIns="0" rIns="0" tIns="0" bIns="0">
            <a:spAutoFit/>
          </a:bodyPr>
          <a:lstStyle/>
          <a:p>
            <a:pPr>
              <a:spcAft>
                <a:spcPts val="500"/>
              </a:spcAft>
              <a:defRPr sz="2200" b="1">
                <a:solidFill>
                  <a:srgbClr val="007E86"/>
                </a:solidFill>
                <a:latin typeface="Arial"/>
              </a:defRPr>
            </a:pPr>
            <a:r>
              <a:t>Amazon Robotics / University of Pennsylvania</a:t>
            </a:r>
          </a:p>
        </p:txBody>
      </p:sp>
      <p:sp>
        <p:nvSpPr>
          <p:cNvPr id="10" name="TextBox 9"/>
          <p:cNvSpPr txBox="1"/>
          <p:nvPr/>
        </p:nvSpPr>
        <p:spPr>
          <a:xfrm>
            <a:off x="3822191" y="2980944"/>
            <a:ext cx="7589520" cy="2468880"/>
          </a:xfrm>
          <a:prstGeom prst="rect">
            <a:avLst/>
          </a:prstGeom>
          <a:noFill/>
        </p:spPr>
        <p:txBody>
          <a:bodyPr wrap="square" lIns="0" rIns="0" tIns="0" bIns="0">
            <a:spAutoFit/>
          </a:bodyPr>
          <a:lstStyle/>
          <a:p>
            <a:pPr>
              <a:spcAft>
                <a:spcPts val="500"/>
              </a:spcAft>
              <a:defRPr sz="3300" b="1">
                <a:solidFill>
                  <a:srgbClr val="173343"/>
                </a:solidFill>
                <a:latin typeface="Arial"/>
              </a:defRPr>
            </a:pPr>
            <a:r>
              <a:t>Integrated Learning and Planning with Neuro-Symbolic Concepts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B3A"/>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69D7D8"/>
                </a:solidFill>
                <a:latin typeface="Arial"/>
              </a:defRPr>
            </a:pPr>
            <a:r>
              <a:t>09:30 EDT • CONTRIBUTED RESEARCH</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FFFFFF"/>
                </a:solidFill>
                <a:latin typeface="Arial"/>
              </a:defRPr>
            </a:pPr>
            <a:r>
              <a:t>Oral talks • Session 1</a:t>
            </a:r>
          </a:p>
        </p:txBody>
      </p:sp>
      <p:cxnSp>
        <p:nvCxnSpPr>
          <p:cNvPr id="5" name="Connector 4"/>
          <p:cNvCxnSpPr/>
          <p:nvPr/>
        </p:nvCxnSpPr>
        <p:spPr>
          <a:xfrm>
            <a:off x="548640" y="6391656"/>
            <a:ext cx="11082528" cy="0"/>
          </a:xfrm>
          <a:prstGeom prst="line">
            <a:avLst/>
          </a:prstGeom>
          <a:ln w="8890">
            <a:solidFill>
              <a:srgbClr val="3650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A7BCC5"/>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A7BCC5"/>
                </a:solidFill>
                <a:latin typeface="Arial"/>
              </a:defRPr>
            </a:pPr>
            <a:r>
              <a:t>18</a:t>
            </a:r>
          </a:p>
        </p:txBody>
      </p:sp>
      <p:sp>
        <p:nvSpPr>
          <p:cNvPr id="8" name="TextBox 7"/>
          <p:cNvSpPr txBox="1"/>
          <p:nvPr/>
        </p:nvSpPr>
        <p:spPr>
          <a:xfrm>
            <a:off x="685800" y="2011680"/>
            <a:ext cx="914400" cy="731520"/>
          </a:xfrm>
          <a:prstGeom prst="rect">
            <a:avLst/>
          </a:prstGeom>
          <a:noFill/>
        </p:spPr>
        <p:txBody>
          <a:bodyPr wrap="square" lIns="0" rIns="0" tIns="0" bIns="0">
            <a:spAutoFit/>
          </a:bodyPr>
          <a:lstStyle/>
          <a:p>
            <a:pPr>
              <a:spcAft>
                <a:spcPts val="500"/>
              </a:spcAft>
              <a:defRPr sz="4000" b="1">
                <a:solidFill>
                  <a:srgbClr val="FFC928"/>
                </a:solidFill>
                <a:latin typeface="Arial"/>
              </a:defRPr>
            </a:pPr>
            <a:r>
              <a:t>01</a:t>
            </a:r>
          </a:p>
        </p:txBody>
      </p:sp>
      <p:sp>
        <p:nvSpPr>
          <p:cNvPr id="9" name="TextBox 8">
            <a:hlinkClick r:id="rId3"/>
          </p:cNvPr>
          <p:cNvSpPr txBox="1"/>
          <p:nvPr/>
        </p:nvSpPr>
        <p:spPr>
          <a:xfrm>
            <a:off x="1828800" y="2011680"/>
            <a:ext cx="9326880" cy="1417320"/>
          </a:xfrm>
          <a:prstGeom prst="rect">
            <a:avLst/>
          </a:prstGeom>
          <a:noFill/>
        </p:spPr>
        <p:txBody>
          <a:bodyPr wrap="square" lIns="0" rIns="0" tIns="0" bIns="0">
            <a:spAutoFit/>
          </a:bodyPr>
          <a:lstStyle/>
          <a:p>
            <a:pPr>
              <a:spcAft>
                <a:spcPts val="500"/>
              </a:spcAft>
              <a:defRPr sz="3000" b="1">
                <a:solidFill>
                  <a:srgbClr val="FFFFFF"/>
                </a:solidFill>
                <a:latin typeface="Arial"/>
              </a:defRPr>
            </a:pPr>
            <a:r>
              <a:t>iFlax: Neuro-Symbolic Learning for Long-Horizon Task Planning Under Complex Logical Constraints</a:t>
            </a:r>
          </a:p>
        </p:txBody>
      </p:sp>
      <p:sp>
        <p:nvSpPr>
          <p:cNvPr id="10" name="TextBox 9"/>
          <p:cNvSpPr txBox="1"/>
          <p:nvPr/>
        </p:nvSpPr>
        <p:spPr>
          <a:xfrm>
            <a:off x="685800" y="3840480"/>
            <a:ext cx="914400" cy="731520"/>
          </a:xfrm>
          <a:prstGeom prst="rect">
            <a:avLst/>
          </a:prstGeom>
          <a:noFill/>
        </p:spPr>
        <p:txBody>
          <a:bodyPr wrap="square" lIns="0" rIns="0" tIns="0" bIns="0">
            <a:spAutoFit/>
          </a:bodyPr>
          <a:lstStyle/>
          <a:p>
            <a:pPr>
              <a:spcAft>
                <a:spcPts val="500"/>
              </a:spcAft>
              <a:defRPr sz="4000" b="1">
                <a:solidFill>
                  <a:srgbClr val="FFC928"/>
                </a:solidFill>
                <a:latin typeface="Arial"/>
              </a:defRPr>
            </a:pPr>
            <a:r>
              <a:t>02</a:t>
            </a:r>
          </a:p>
        </p:txBody>
      </p:sp>
      <p:sp>
        <p:nvSpPr>
          <p:cNvPr id="11" name="TextBox 10">
            <a:hlinkClick r:id="rId4"/>
          </p:cNvPr>
          <p:cNvSpPr txBox="1"/>
          <p:nvPr/>
        </p:nvSpPr>
        <p:spPr>
          <a:xfrm>
            <a:off x="1828800" y="3840480"/>
            <a:ext cx="9326880" cy="1417320"/>
          </a:xfrm>
          <a:prstGeom prst="rect">
            <a:avLst/>
          </a:prstGeom>
          <a:noFill/>
        </p:spPr>
        <p:txBody>
          <a:bodyPr wrap="square" lIns="0" rIns="0" tIns="0" bIns="0">
            <a:spAutoFit/>
          </a:bodyPr>
          <a:lstStyle/>
          <a:p>
            <a:pPr>
              <a:spcAft>
                <a:spcPts val="500"/>
              </a:spcAft>
              <a:defRPr sz="3000" b="1">
                <a:solidFill>
                  <a:srgbClr val="FFFFFF"/>
                </a:solidFill>
                <a:latin typeface="Arial"/>
              </a:defRPr>
            </a:pPr>
            <a:r>
              <a:t>Logic-VLA: A Temporal Logic Conditioned Vision-Language-Action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09:50 EDT • KEYNOTE</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Yezhou (YZ) Yang</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19</a:t>
            </a:r>
          </a:p>
        </p:txBody>
      </p:sp>
      <p:pic>
        <p:nvPicPr>
          <p:cNvPr id="8" name="Picture 7" descr="yezhou.jpg"/>
          <p:cNvPicPr>
            <a:picLocks noChangeAspect="1"/>
          </p:cNvPicPr>
          <p:nvPr/>
        </p:nvPicPr>
        <p:blipFill>
          <a:blip r:embed="rId3"/>
          <a:srcRect l="8219" r="8219"/>
          <a:stretch>
            <a:fillRect/>
          </a:stretch>
        </p:blipFill>
        <p:spPr>
          <a:xfrm>
            <a:off x="594360" y="1965960"/>
            <a:ext cx="2788920" cy="3337560"/>
          </a:xfrm>
          <a:prstGeom prst="rect">
            <a:avLst/>
          </a:prstGeom>
        </p:spPr>
      </p:pic>
      <p:sp>
        <p:nvSpPr>
          <p:cNvPr id="9" name="TextBox 8"/>
          <p:cNvSpPr txBox="1"/>
          <p:nvPr/>
        </p:nvSpPr>
        <p:spPr>
          <a:xfrm>
            <a:off x="3822191" y="1965960"/>
            <a:ext cx="7680960" cy="731520"/>
          </a:xfrm>
          <a:prstGeom prst="rect">
            <a:avLst/>
          </a:prstGeom>
          <a:noFill/>
        </p:spPr>
        <p:txBody>
          <a:bodyPr wrap="square" lIns="0" rIns="0" tIns="0" bIns="0">
            <a:spAutoFit/>
          </a:bodyPr>
          <a:lstStyle/>
          <a:p>
            <a:pPr>
              <a:spcAft>
                <a:spcPts val="500"/>
              </a:spcAft>
              <a:defRPr sz="2200" b="1">
                <a:solidFill>
                  <a:srgbClr val="007E86"/>
                </a:solidFill>
                <a:latin typeface="Arial"/>
              </a:defRPr>
            </a:pPr>
            <a:r>
              <a:t>Arizona State University</a:t>
            </a:r>
          </a:p>
        </p:txBody>
      </p:sp>
      <p:sp>
        <p:nvSpPr>
          <p:cNvPr id="10" name="TextBox 9"/>
          <p:cNvSpPr txBox="1"/>
          <p:nvPr/>
        </p:nvSpPr>
        <p:spPr>
          <a:xfrm>
            <a:off x="3822191" y="2980944"/>
            <a:ext cx="7589520" cy="2468880"/>
          </a:xfrm>
          <a:prstGeom prst="rect">
            <a:avLst/>
          </a:prstGeom>
          <a:noFill/>
        </p:spPr>
        <p:txBody>
          <a:bodyPr wrap="square" lIns="0" rIns="0" tIns="0" bIns="0">
            <a:spAutoFit/>
          </a:bodyPr>
          <a:lstStyle/>
          <a:p>
            <a:pPr>
              <a:spcAft>
                <a:spcPts val="500"/>
              </a:spcAft>
              <a:defRPr sz="3300" b="1">
                <a:solidFill>
                  <a:srgbClr val="173343"/>
                </a:solidFill>
                <a:latin typeface="Arial"/>
              </a:defRPr>
            </a:pPr>
            <a:r>
              <a:t>Evaluating AI (and AI Evaluation) as a Science: Towards Science-guided Reliable Agents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10:10 EDT • KEYNOTE</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Joyce Chai</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20</a:t>
            </a:r>
          </a:p>
        </p:txBody>
      </p:sp>
      <p:pic>
        <p:nvPicPr>
          <p:cNvPr id="8" name="Picture 7" descr="chai.jpg"/>
          <p:cNvPicPr>
            <a:picLocks noChangeAspect="1"/>
          </p:cNvPicPr>
          <p:nvPr/>
        </p:nvPicPr>
        <p:blipFill>
          <a:blip r:embed="rId3"/>
          <a:srcRect l="8219" r="8219"/>
          <a:stretch>
            <a:fillRect/>
          </a:stretch>
        </p:blipFill>
        <p:spPr>
          <a:xfrm>
            <a:off x="594360" y="1965960"/>
            <a:ext cx="2788920" cy="3337560"/>
          </a:xfrm>
          <a:prstGeom prst="rect">
            <a:avLst/>
          </a:prstGeom>
        </p:spPr>
      </p:pic>
      <p:sp>
        <p:nvSpPr>
          <p:cNvPr id="9" name="TextBox 8"/>
          <p:cNvSpPr txBox="1"/>
          <p:nvPr/>
        </p:nvSpPr>
        <p:spPr>
          <a:xfrm>
            <a:off x="3822191" y="1965960"/>
            <a:ext cx="7680960" cy="731520"/>
          </a:xfrm>
          <a:prstGeom prst="rect">
            <a:avLst/>
          </a:prstGeom>
          <a:noFill/>
        </p:spPr>
        <p:txBody>
          <a:bodyPr wrap="square" lIns="0" rIns="0" tIns="0" bIns="0">
            <a:spAutoFit/>
          </a:bodyPr>
          <a:lstStyle/>
          <a:p>
            <a:pPr>
              <a:spcAft>
                <a:spcPts val="500"/>
              </a:spcAft>
              <a:defRPr sz="2200" b="1">
                <a:solidFill>
                  <a:srgbClr val="007E86"/>
                </a:solidFill>
                <a:latin typeface="Arial"/>
              </a:defRPr>
            </a:pPr>
            <a:r>
              <a:t>University of Michigan</a:t>
            </a:r>
          </a:p>
        </p:txBody>
      </p:sp>
      <p:sp>
        <p:nvSpPr>
          <p:cNvPr id="10" name="TextBox 9"/>
          <p:cNvSpPr txBox="1"/>
          <p:nvPr/>
        </p:nvSpPr>
        <p:spPr>
          <a:xfrm>
            <a:off x="3822191" y="2980944"/>
            <a:ext cx="7589520" cy="2468880"/>
          </a:xfrm>
          <a:prstGeom prst="rect">
            <a:avLst/>
          </a:prstGeom>
          <a:noFill/>
        </p:spPr>
        <p:txBody>
          <a:bodyPr wrap="square" lIns="0" rIns="0" tIns="0" bIns="0">
            <a:spAutoFit/>
          </a:bodyPr>
          <a:lstStyle/>
          <a:p>
            <a:pPr>
              <a:spcAft>
                <a:spcPts val="500"/>
              </a:spcAft>
              <a:defRPr sz="3300" b="1">
                <a:solidFill>
                  <a:srgbClr val="173343"/>
                </a:solidFill>
                <a:latin typeface="Arial"/>
              </a:defRPr>
            </a:pPr>
            <a:r>
              <a:t>Language Guided Failure Recovery in Robots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B3A"/>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69D7D8"/>
                </a:solidFill>
                <a:latin typeface="Arial"/>
              </a:defRPr>
            </a:pPr>
            <a:r>
              <a:t>10:30 EDT</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FFFFFF"/>
                </a:solidFill>
                <a:latin typeface="Arial"/>
              </a:defRPr>
            </a:pPr>
            <a:r>
              <a:t>Coffee, posters, and conversation</a:t>
            </a:r>
          </a:p>
        </p:txBody>
      </p:sp>
      <p:cxnSp>
        <p:nvCxnSpPr>
          <p:cNvPr id="5" name="Connector 4"/>
          <p:cNvCxnSpPr/>
          <p:nvPr/>
        </p:nvCxnSpPr>
        <p:spPr>
          <a:xfrm>
            <a:off x="548640" y="6391656"/>
            <a:ext cx="11082528" cy="0"/>
          </a:xfrm>
          <a:prstGeom prst="line">
            <a:avLst/>
          </a:prstGeom>
          <a:ln w="8890">
            <a:solidFill>
              <a:srgbClr val="3650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A7BCC5"/>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A7BCC5"/>
                </a:solidFill>
                <a:latin typeface="Arial"/>
              </a:defRPr>
            </a:pPr>
            <a:r>
              <a:t>21</a:t>
            </a:r>
          </a:p>
        </p:txBody>
      </p:sp>
      <p:sp>
        <p:nvSpPr>
          <p:cNvPr id="8" name="TextBox 7"/>
          <p:cNvSpPr txBox="1"/>
          <p:nvPr/>
        </p:nvSpPr>
        <p:spPr>
          <a:xfrm>
            <a:off x="640080" y="1920240"/>
            <a:ext cx="8046720" cy="1554480"/>
          </a:xfrm>
          <a:prstGeom prst="rect">
            <a:avLst/>
          </a:prstGeom>
          <a:noFill/>
        </p:spPr>
        <p:txBody>
          <a:bodyPr wrap="square" lIns="0" rIns="0" tIns="0" bIns="0">
            <a:spAutoFit/>
          </a:bodyPr>
          <a:lstStyle/>
          <a:p>
            <a:pPr>
              <a:spcAft>
                <a:spcPts val="500"/>
              </a:spcAft>
              <a:defRPr sz="4300" b="1">
                <a:solidFill>
                  <a:srgbClr val="FFFFFF"/>
                </a:solidFill>
                <a:latin typeface="Arial"/>
              </a:defRPr>
            </a:pPr>
            <a:r>
              <a:t>Meet the authors.</a:t>
            </a:r>
          </a:p>
          <a:p>
            <a:pPr>
              <a:spcAft>
                <a:spcPts val="500"/>
              </a:spcAft>
              <a:defRPr sz="4300" b="1">
                <a:solidFill>
                  <a:srgbClr val="FFFFFF"/>
                </a:solidFill>
                <a:latin typeface="Arial"/>
              </a:defRPr>
            </a:pPr>
            <a:r>
              <a:t>Explore the ideas.</a:t>
            </a:r>
          </a:p>
        </p:txBody>
      </p:sp>
      <p:sp>
        <p:nvSpPr>
          <p:cNvPr id="9" name="TextBox 8"/>
          <p:cNvSpPr txBox="1"/>
          <p:nvPr/>
        </p:nvSpPr>
        <p:spPr>
          <a:xfrm>
            <a:off x="640080" y="4023360"/>
            <a:ext cx="7772400" cy="914400"/>
          </a:xfrm>
          <a:prstGeom prst="rect">
            <a:avLst/>
          </a:prstGeom>
          <a:noFill/>
        </p:spPr>
        <p:txBody>
          <a:bodyPr wrap="square" lIns="0" rIns="0" tIns="0" bIns="0">
            <a:spAutoFit/>
          </a:bodyPr>
          <a:lstStyle/>
          <a:p>
            <a:pPr>
              <a:spcAft>
                <a:spcPts val="500"/>
              </a:spcAft>
              <a:defRPr sz="2600" b="0">
                <a:solidFill>
                  <a:srgbClr val="69D7D8"/>
                </a:solidFill>
                <a:latin typeface="Arial"/>
              </a:defRPr>
            </a:pPr>
            <a:r>
              <a:t>We resume at 11:00 with Oral Talks • Session 2.</a:t>
            </a:r>
          </a:p>
        </p:txBody>
      </p:sp>
      <p:sp>
        <p:nvSpPr>
          <p:cNvPr id="10" name="TextBox 9"/>
          <p:cNvSpPr txBox="1"/>
          <p:nvPr/>
        </p:nvSpPr>
        <p:spPr>
          <a:xfrm>
            <a:off x="640080" y="5230368"/>
            <a:ext cx="7772400" cy="457200"/>
          </a:xfrm>
          <a:prstGeom prst="rect">
            <a:avLst/>
          </a:prstGeom>
          <a:noFill/>
        </p:spPr>
        <p:txBody>
          <a:bodyPr wrap="square" lIns="0" rIns="0" tIns="0" bIns="0">
            <a:spAutoFit/>
          </a:bodyPr>
          <a:lstStyle/>
          <a:p>
            <a:pPr>
              <a:spcAft>
                <a:spcPts val="500"/>
              </a:spcAft>
              <a:defRPr sz="2200" b="0">
                <a:solidFill>
                  <a:srgbClr val="FFFFFF"/>
                </a:solidFill>
                <a:latin typeface="Arial"/>
              </a:defRPr>
            </a:pPr>
            <a:r>
              <a:t>Program, abstracts, and paper links</a:t>
            </a:r>
          </a:p>
        </p:txBody>
      </p:sp>
      <p:sp>
        <p:nvSpPr>
          <p:cNvPr id="11" name="TextBox 10">
            <a:hlinkClick r:id="rId3"/>
          </p:cNvPr>
          <p:cNvSpPr txBox="1"/>
          <p:nvPr/>
        </p:nvSpPr>
        <p:spPr>
          <a:xfrm>
            <a:off x="640080" y="5715000"/>
            <a:ext cx="7772400" cy="365760"/>
          </a:xfrm>
          <a:prstGeom prst="rect">
            <a:avLst/>
          </a:prstGeom>
          <a:noFill/>
        </p:spPr>
        <p:txBody>
          <a:bodyPr wrap="square" lIns="0" rIns="0" tIns="0" bIns="0">
            <a:spAutoFit/>
          </a:bodyPr>
          <a:lstStyle/>
          <a:p>
            <a:pPr>
              <a:spcAft>
                <a:spcPts val="500"/>
              </a:spcAft>
              <a:defRPr sz="2100" b="0">
                <a:solidFill>
                  <a:srgbClr val="69D7D8"/>
                </a:solidFill>
                <a:latin typeface="Arial"/>
              </a:defRPr>
            </a:pPr>
            <a:r>
              <a:t>embodied-nesy.github.io</a:t>
            </a:r>
          </a:p>
        </p:txBody>
      </p:sp>
      <p:pic>
        <p:nvPicPr>
          <p:cNvPr id="12" name="Picture 11" descr="workshop-qr.png"/>
          <p:cNvPicPr>
            <a:picLocks noChangeAspect="1"/>
          </p:cNvPicPr>
          <p:nvPr/>
        </p:nvPicPr>
        <p:blipFill>
          <a:blip r:embed="rId4"/>
          <a:stretch>
            <a:fillRect/>
          </a:stretch>
        </p:blipFill>
        <p:spPr>
          <a:xfrm>
            <a:off x="9144000" y="2240280"/>
            <a:ext cx="2377440" cy="23774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B3A"/>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69D7D8"/>
                </a:solidFill>
                <a:latin typeface="Arial"/>
              </a:defRPr>
            </a:pPr>
            <a:r>
              <a:t>11:00 EDT • CONTRIBUTED RESEARCH</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FFFFFF"/>
                </a:solidFill>
                <a:latin typeface="Arial"/>
              </a:defRPr>
            </a:pPr>
            <a:r>
              <a:t>Oral talks • Session 2</a:t>
            </a:r>
          </a:p>
        </p:txBody>
      </p:sp>
      <p:cxnSp>
        <p:nvCxnSpPr>
          <p:cNvPr id="5" name="Connector 4"/>
          <p:cNvCxnSpPr/>
          <p:nvPr/>
        </p:nvCxnSpPr>
        <p:spPr>
          <a:xfrm>
            <a:off x="548640" y="6391656"/>
            <a:ext cx="11082528" cy="0"/>
          </a:xfrm>
          <a:prstGeom prst="line">
            <a:avLst/>
          </a:prstGeom>
          <a:ln w="8890">
            <a:solidFill>
              <a:srgbClr val="3650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A7BCC5"/>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A7BCC5"/>
                </a:solidFill>
                <a:latin typeface="Arial"/>
              </a:defRPr>
            </a:pPr>
            <a:r>
              <a:t>22</a:t>
            </a:r>
          </a:p>
        </p:txBody>
      </p:sp>
      <p:sp>
        <p:nvSpPr>
          <p:cNvPr id="8" name="TextBox 7"/>
          <p:cNvSpPr txBox="1"/>
          <p:nvPr/>
        </p:nvSpPr>
        <p:spPr>
          <a:xfrm>
            <a:off x="685800" y="2011680"/>
            <a:ext cx="914400" cy="731520"/>
          </a:xfrm>
          <a:prstGeom prst="rect">
            <a:avLst/>
          </a:prstGeom>
          <a:noFill/>
        </p:spPr>
        <p:txBody>
          <a:bodyPr wrap="square" lIns="0" rIns="0" tIns="0" bIns="0">
            <a:spAutoFit/>
          </a:bodyPr>
          <a:lstStyle/>
          <a:p>
            <a:pPr>
              <a:spcAft>
                <a:spcPts val="500"/>
              </a:spcAft>
              <a:defRPr sz="4000" b="1">
                <a:solidFill>
                  <a:srgbClr val="FFC928"/>
                </a:solidFill>
                <a:latin typeface="Arial"/>
              </a:defRPr>
            </a:pPr>
            <a:r>
              <a:t>01</a:t>
            </a:r>
          </a:p>
        </p:txBody>
      </p:sp>
      <p:sp>
        <p:nvSpPr>
          <p:cNvPr id="9" name="TextBox 8">
            <a:hlinkClick r:id="rId3"/>
          </p:cNvPr>
          <p:cNvSpPr txBox="1"/>
          <p:nvPr/>
        </p:nvSpPr>
        <p:spPr>
          <a:xfrm>
            <a:off x="1828800" y="2011680"/>
            <a:ext cx="9326880" cy="1417320"/>
          </a:xfrm>
          <a:prstGeom prst="rect">
            <a:avLst/>
          </a:prstGeom>
          <a:noFill/>
        </p:spPr>
        <p:txBody>
          <a:bodyPr wrap="square" lIns="0" rIns="0" tIns="0" bIns="0">
            <a:spAutoFit/>
          </a:bodyPr>
          <a:lstStyle/>
          <a:p>
            <a:pPr>
              <a:spcAft>
                <a:spcPts val="500"/>
              </a:spcAft>
              <a:defRPr sz="3000" b="1">
                <a:solidFill>
                  <a:srgbClr val="FFFFFF"/>
                </a:solidFill>
                <a:latin typeface="Arial"/>
              </a:defRPr>
            </a:pPr>
            <a:r>
              <a:t>Task-Aware Conformal State Estimation for Reliable Robotic Planning</a:t>
            </a:r>
          </a:p>
        </p:txBody>
      </p:sp>
      <p:sp>
        <p:nvSpPr>
          <p:cNvPr id="10" name="TextBox 9"/>
          <p:cNvSpPr txBox="1"/>
          <p:nvPr/>
        </p:nvSpPr>
        <p:spPr>
          <a:xfrm>
            <a:off x="685800" y="3840480"/>
            <a:ext cx="914400" cy="731520"/>
          </a:xfrm>
          <a:prstGeom prst="rect">
            <a:avLst/>
          </a:prstGeom>
          <a:noFill/>
        </p:spPr>
        <p:txBody>
          <a:bodyPr wrap="square" lIns="0" rIns="0" tIns="0" bIns="0">
            <a:spAutoFit/>
          </a:bodyPr>
          <a:lstStyle/>
          <a:p>
            <a:pPr>
              <a:spcAft>
                <a:spcPts val="500"/>
              </a:spcAft>
              <a:defRPr sz="4000" b="1">
                <a:solidFill>
                  <a:srgbClr val="FFC928"/>
                </a:solidFill>
                <a:latin typeface="Arial"/>
              </a:defRPr>
            </a:pPr>
            <a:r>
              <a:t>02</a:t>
            </a:r>
          </a:p>
        </p:txBody>
      </p:sp>
      <p:sp>
        <p:nvSpPr>
          <p:cNvPr id="11" name="TextBox 10">
            <a:hlinkClick r:id="rId4"/>
          </p:cNvPr>
          <p:cNvSpPr txBox="1"/>
          <p:nvPr/>
        </p:nvSpPr>
        <p:spPr>
          <a:xfrm>
            <a:off x="1828800" y="3840480"/>
            <a:ext cx="9326880" cy="1417320"/>
          </a:xfrm>
          <a:prstGeom prst="rect">
            <a:avLst/>
          </a:prstGeom>
          <a:noFill/>
        </p:spPr>
        <p:txBody>
          <a:bodyPr wrap="square" lIns="0" rIns="0" tIns="0" bIns="0">
            <a:spAutoFit/>
          </a:bodyPr>
          <a:lstStyle/>
          <a:p>
            <a:pPr>
              <a:spcAft>
                <a:spcPts val="500"/>
              </a:spcAft>
              <a:defRPr sz="3000" b="1">
                <a:solidFill>
                  <a:srgbClr val="FFFFFF"/>
                </a:solidFill>
                <a:latin typeface="Arial"/>
              </a:defRPr>
            </a:pPr>
            <a:r>
              <a:t>ActionGround: Training-Free Runtime Refinement of Frozen VLA Policies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B3A"/>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69D7D8"/>
                </a:solidFill>
                <a:latin typeface="Arial"/>
              </a:defRPr>
            </a:pPr>
            <a:r>
              <a:t>11:20 EDT • PANEL DEBATE</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FFFFFF"/>
                </a:solidFill>
                <a:latin typeface="Arial"/>
              </a:defRPr>
            </a:pPr>
            <a:r>
              <a:t>Semantics, data, and human input</a:t>
            </a:r>
          </a:p>
        </p:txBody>
      </p:sp>
      <p:cxnSp>
        <p:nvCxnSpPr>
          <p:cNvPr id="5" name="Connector 4"/>
          <p:cNvCxnSpPr/>
          <p:nvPr/>
        </p:nvCxnSpPr>
        <p:spPr>
          <a:xfrm>
            <a:off x="548640" y="6391656"/>
            <a:ext cx="11082528" cy="0"/>
          </a:xfrm>
          <a:prstGeom prst="line">
            <a:avLst/>
          </a:prstGeom>
          <a:ln w="8890">
            <a:solidFill>
              <a:srgbClr val="3650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A7BCC5"/>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A7BCC5"/>
                </a:solidFill>
                <a:latin typeface="Arial"/>
              </a:defRPr>
            </a:pPr>
            <a:r>
              <a:t>23</a:t>
            </a:r>
          </a:p>
        </p:txBody>
      </p:sp>
      <p:sp>
        <p:nvSpPr>
          <p:cNvPr id="8" name="TextBox 7"/>
          <p:cNvSpPr txBox="1"/>
          <p:nvPr/>
        </p:nvSpPr>
        <p:spPr>
          <a:xfrm>
            <a:off x="640080" y="1801368"/>
            <a:ext cx="10881360" cy="2267712"/>
          </a:xfrm>
          <a:prstGeom prst="rect">
            <a:avLst/>
          </a:prstGeom>
          <a:noFill/>
        </p:spPr>
        <p:txBody>
          <a:bodyPr wrap="square" lIns="0" rIns="0" tIns="0" bIns="0">
            <a:spAutoFit/>
          </a:bodyPr>
          <a:lstStyle/>
          <a:p>
            <a:pPr>
              <a:spcAft>
                <a:spcPts val="500"/>
              </a:spcAft>
              <a:defRPr sz="3200" b="1">
                <a:solidFill>
                  <a:srgbClr val="FFFFFF"/>
                </a:solidFill>
                <a:latin typeface="Arial"/>
              </a:defRPr>
            </a:pPr>
            <a:r>
              <a:t>What semantics must the data capture for efficient robot learning, and how important is direct human input in generating and curating that data?</a:t>
            </a:r>
          </a:p>
        </p:txBody>
      </p:sp>
      <p:pic>
        <p:nvPicPr>
          <p:cNvPr id="9" name="Picture 8" descr="scherer.jpg"/>
          <p:cNvPicPr>
            <a:picLocks noChangeAspect="1"/>
          </p:cNvPicPr>
          <p:nvPr/>
        </p:nvPicPr>
        <p:blipFill>
          <a:blip r:embed="rId3"/>
          <a:srcRect l="17078" r="17078"/>
          <a:stretch>
            <a:fillRect/>
          </a:stretch>
        </p:blipFill>
        <p:spPr>
          <a:xfrm>
            <a:off x="658368" y="4370832"/>
            <a:ext cx="960120" cy="1097280"/>
          </a:xfrm>
          <a:prstGeom prst="rect">
            <a:avLst/>
          </a:prstGeom>
        </p:spPr>
      </p:pic>
      <p:sp>
        <p:nvSpPr>
          <p:cNvPr id="10" name="TextBox 9"/>
          <p:cNvSpPr txBox="1"/>
          <p:nvPr/>
        </p:nvSpPr>
        <p:spPr>
          <a:xfrm>
            <a:off x="1755648" y="4489704"/>
            <a:ext cx="1554480" cy="960120"/>
          </a:xfrm>
          <a:prstGeom prst="rect">
            <a:avLst/>
          </a:prstGeom>
          <a:noFill/>
        </p:spPr>
        <p:txBody>
          <a:bodyPr wrap="square" lIns="0" rIns="0" tIns="0" bIns="0">
            <a:spAutoFit/>
          </a:bodyPr>
          <a:lstStyle/>
          <a:p>
            <a:pPr>
              <a:spcAft>
                <a:spcPts val="500"/>
              </a:spcAft>
              <a:defRPr sz="2000" b="1">
                <a:solidFill>
                  <a:srgbClr val="FFFFFF"/>
                </a:solidFill>
                <a:latin typeface="Arial"/>
              </a:defRPr>
            </a:pPr>
            <a:r>
              <a:t>Sebastian Scherer</a:t>
            </a:r>
          </a:p>
        </p:txBody>
      </p:sp>
      <p:pic>
        <p:nvPicPr>
          <p:cNvPr id="11" name="Picture 10" descr="jiayuan.jpg"/>
          <p:cNvPicPr>
            <a:picLocks noChangeAspect="1"/>
          </p:cNvPicPr>
          <p:nvPr/>
        </p:nvPicPr>
        <p:blipFill>
          <a:blip r:embed="rId4"/>
          <a:srcRect l="6250" r="6250"/>
          <a:stretch>
            <a:fillRect/>
          </a:stretch>
        </p:blipFill>
        <p:spPr>
          <a:xfrm>
            <a:off x="3511296" y="4370832"/>
            <a:ext cx="960120" cy="1097280"/>
          </a:xfrm>
          <a:prstGeom prst="rect">
            <a:avLst/>
          </a:prstGeom>
        </p:spPr>
      </p:pic>
      <p:sp>
        <p:nvSpPr>
          <p:cNvPr id="12" name="TextBox 11"/>
          <p:cNvSpPr txBox="1"/>
          <p:nvPr/>
        </p:nvSpPr>
        <p:spPr>
          <a:xfrm>
            <a:off x="4608576" y="4489704"/>
            <a:ext cx="1554480" cy="960120"/>
          </a:xfrm>
          <a:prstGeom prst="rect">
            <a:avLst/>
          </a:prstGeom>
          <a:noFill/>
        </p:spPr>
        <p:txBody>
          <a:bodyPr wrap="square" lIns="0" rIns="0" tIns="0" bIns="0">
            <a:spAutoFit/>
          </a:bodyPr>
          <a:lstStyle/>
          <a:p>
            <a:pPr>
              <a:spcAft>
                <a:spcPts val="500"/>
              </a:spcAft>
              <a:defRPr sz="2000" b="1">
                <a:solidFill>
                  <a:srgbClr val="FFFFFF"/>
                </a:solidFill>
                <a:latin typeface="Arial"/>
              </a:defRPr>
            </a:pPr>
            <a:r>
              <a:t>Jiayuan Mao</a:t>
            </a:r>
          </a:p>
        </p:txBody>
      </p:sp>
      <p:pic>
        <p:nvPicPr>
          <p:cNvPr id="13" name="Picture 12" descr="yezhou.jpg"/>
          <p:cNvPicPr>
            <a:picLocks noChangeAspect="1"/>
          </p:cNvPicPr>
          <p:nvPr/>
        </p:nvPicPr>
        <p:blipFill>
          <a:blip r:embed="rId5"/>
          <a:srcRect l="6250" r="6250"/>
          <a:stretch>
            <a:fillRect/>
          </a:stretch>
        </p:blipFill>
        <p:spPr>
          <a:xfrm>
            <a:off x="6364224" y="4370832"/>
            <a:ext cx="960120" cy="1097280"/>
          </a:xfrm>
          <a:prstGeom prst="rect">
            <a:avLst/>
          </a:prstGeom>
        </p:spPr>
      </p:pic>
      <p:sp>
        <p:nvSpPr>
          <p:cNvPr id="14" name="TextBox 13"/>
          <p:cNvSpPr txBox="1"/>
          <p:nvPr/>
        </p:nvSpPr>
        <p:spPr>
          <a:xfrm>
            <a:off x="7461504" y="4489704"/>
            <a:ext cx="1554480" cy="960120"/>
          </a:xfrm>
          <a:prstGeom prst="rect">
            <a:avLst/>
          </a:prstGeom>
          <a:noFill/>
        </p:spPr>
        <p:txBody>
          <a:bodyPr wrap="square" lIns="0" rIns="0" tIns="0" bIns="0">
            <a:spAutoFit/>
          </a:bodyPr>
          <a:lstStyle/>
          <a:p>
            <a:pPr>
              <a:spcAft>
                <a:spcPts val="500"/>
              </a:spcAft>
              <a:defRPr sz="2000" b="1">
                <a:solidFill>
                  <a:srgbClr val="FFFFFF"/>
                </a:solidFill>
                <a:latin typeface="Arial"/>
              </a:defRPr>
            </a:pPr>
            <a:r>
              <a:t>Yezhou (YZ) Yang</a:t>
            </a:r>
          </a:p>
        </p:txBody>
      </p:sp>
      <p:pic>
        <p:nvPicPr>
          <p:cNvPr id="15" name="Picture 14" descr="jean.jpg"/>
          <p:cNvPicPr>
            <a:picLocks noChangeAspect="1"/>
          </p:cNvPicPr>
          <p:nvPr/>
        </p:nvPicPr>
        <p:blipFill>
          <a:blip r:embed="rId6"/>
          <a:srcRect l="6250" r="6250"/>
          <a:stretch>
            <a:fillRect/>
          </a:stretch>
        </p:blipFill>
        <p:spPr>
          <a:xfrm>
            <a:off x="9217152" y="4370832"/>
            <a:ext cx="960120" cy="1097280"/>
          </a:xfrm>
          <a:prstGeom prst="rect">
            <a:avLst/>
          </a:prstGeom>
        </p:spPr>
      </p:pic>
      <p:sp>
        <p:nvSpPr>
          <p:cNvPr id="16" name="TextBox 15"/>
          <p:cNvSpPr txBox="1"/>
          <p:nvPr/>
        </p:nvSpPr>
        <p:spPr>
          <a:xfrm>
            <a:off x="10314432" y="4489704"/>
            <a:ext cx="1554480" cy="960120"/>
          </a:xfrm>
          <a:prstGeom prst="rect">
            <a:avLst/>
          </a:prstGeom>
          <a:noFill/>
        </p:spPr>
        <p:txBody>
          <a:bodyPr wrap="square" lIns="0" rIns="0" tIns="0" bIns="0">
            <a:spAutoFit/>
          </a:bodyPr>
          <a:lstStyle/>
          <a:p>
            <a:pPr>
              <a:spcAft>
                <a:spcPts val="500"/>
              </a:spcAft>
              <a:defRPr sz="2000" b="1">
                <a:solidFill>
                  <a:srgbClr val="FFFFFF"/>
                </a:solidFill>
                <a:latin typeface="Arial"/>
              </a:defRPr>
            </a:pPr>
            <a:r>
              <a:t>Jean Oh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B3A"/>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69D7D8"/>
                </a:solidFill>
                <a:latin typeface="Arial"/>
              </a:defRPr>
            </a:pPr>
            <a:r>
              <a:t>12:25 EDT • AWARD + CLOSING</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FFFFFF"/>
                </a:solidFill>
                <a:latin typeface="Arial"/>
              </a:defRPr>
            </a:pPr>
            <a:r>
              <a:t>Best Paper Award</a:t>
            </a:r>
          </a:p>
        </p:txBody>
      </p:sp>
      <p:cxnSp>
        <p:nvCxnSpPr>
          <p:cNvPr id="5" name="Connector 4"/>
          <p:cNvCxnSpPr/>
          <p:nvPr/>
        </p:nvCxnSpPr>
        <p:spPr>
          <a:xfrm>
            <a:off x="548640" y="6391656"/>
            <a:ext cx="11082528" cy="0"/>
          </a:xfrm>
          <a:prstGeom prst="line">
            <a:avLst/>
          </a:prstGeom>
          <a:ln w="8890">
            <a:solidFill>
              <a:srgbClr val="36505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A7BCC5"/>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A7BCC5"/>
                </a:solidFill>
                <a:latin typeface="Arial"/>
              </a:defRPr>
            </a:pPr>
            <a:r>
              <a:t>24</a:t>
            </a:r>
          </a:p>
        </p:txBody>
      </p:sp>
      <p:sp>
        <p:nvSpPr>
          <p:cNvPr id="8" name="5-Point Star 7"/>
          <p:cNvSpPr/>
          <p:nvPr/>
        </p:nvSpPr>
        <p:spPr>
          <a:xfrm>
            <a:off x="1075334" y="2377440"/>
            <a:ext cx="1598371" cy="1598371"/>
          </a:xfrm>
          <a:prstGeom prst="star5">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874519" y="3975811"/>
            <a:ext cx="0" cy="504749"/>
          </a:xfrm>
          <a:prstGeom prst="line">
            <a:avLst/>
          </a:prstGeom>
          <a:ln w="50800">
            <a:solidFill>
              <a:srgbClr val="FFC92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48740" y="4480560"/>
            <a:ext cx="1051560" cy="0"/>
          </a:xfrm>
          <a:prstGeom prst="line">
            <a:avLst/>
          </a:prstGeom>
          <a:ln w="50800">
            <a:solidFill>
              <a:srgbClr val="FFC92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0" y="2194560"/>
            <a:ext cx="7589520" cy="2148840"/>
          </a:xfrm>
          <a:prstGeom prst="rect">
            <a:avLst/>
          </a:prstGeom>
          <a:noFill/>
        </p:spPr>
        <p:txBody>
          <a:bodyPr wrap="square" lIns="0" rIns="0" tIns="0" bIns="0">
            <a:spAutoFit/>
          </a:bodyPr>
          <a:lstStyle/>
          <a:p>
            <a:pPr>
              <a:spcAft>
                <a:spcPts val="500"/>
              </a:spcAft>
              <a:defRPr sz="3500" b="1">
                <a:solidFill>
                  <a:srgbClr val="FFFFFF"/>
                </a:solidFill>
                <a:latin typeface="Arial"/>
              </a:defRPr>
            </a:pPr>
            <a:r>
              <a:t>Recognizing outstanding</a:t>
            </a:r>
          </a:p>
          <a:p>
            <a:pPr>
              <a:spcAft>
                <a:spcPts val="500"/>
              </a:spcAft>
              <a:defRPr sz="3500" b="1">
                <a:solidFill>
                  <a:srgbClr val="FFFFFF"/>
                </a:solidFill>
                <a:latin typeface="Arial"/>
              </a:defRPr>
            </a:pPr>
            <a:r>
              <a:t>work in embodied</a:t>
            </a:r>
          </a:p>
          <a:p>
            <a:pPr>
              <a:spcAft>
                <a:spcPts val="500"/>
              </a:spcAft>
              <a:defRPr sz="3500" b="1">
                <a:solidFill>
                  <a:srgbClr val="FFFFFF"/>
                </a:solidFill>
                <a:latin typeface="Arial"/>
              </a:defRPr>
            </a:pPr>
            <a:r>
              <a:t>neuro-symbolic robotics</a:t>
            </a:r>
          </a:p>
        </p:txBody>
      </p:sp>
      <p:sp>
        <p:nvSpPr>
          <p:cNvPr id="12" name="TextBox 11"/>
          <p:cNvSpPr txBox="1"/>
          <p:nvPr/>
        </p:nvSpPr>
        <p:spPr>
          <a:xfrm>
            <a:off x="3657600" y="4892040"/>
            <a:ext cx="7589520" cy="731520"/>
          </a:xfrm>
          <a:prstGeom prst="rect">
            <a:avLst/>
          </a:prstGeom>
          <a:noFill/>
        </p:spPr>
        <p:txBody>
          <a:bodyPr wrap="square" lIns="0" rIns="0" tIns="0" bIns="0">
            <a:spAutoFit/>
          </a:bodyPr>
          <a:lstStyle/>
          <a:p>
            <a:pPr>
              <a:spcAft>
                <a:spcPts val="500"/>
              </a:spcAft>
              <a:defRPr sz="2500" b="0">
                <a:solidFill>
                  <a:srgbClr val="69D7D8"/>
                </a:solidFill>
                <a:latin typeface="Arial"/>
              </a:defRPr>
            </a:pPr>
            <a:r>
              <a:t>Thank you to our authors and reviewers.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93192"/>
            <a:ext cx="384048" cy="50292"/>
          </a:xfrm>
          <a:prstGeom prst="rect">
            <a:avLst/>
          </a:prstGeom>
          <a:solidFill>
            <a:srgbClr val="FFC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92608"/>
            <a:ext cx="9144000" cy="274320"/>
          </a:xfrm>
          <a:prstGeom prst="rect">
            <a:avLst/>
          </a:prstGeom>
          <a:noFill/>
        </p:spPr>
        <p:txBody>
          <a:bodyPr wrap="square" lIns="0" rIns="0" tIns="0" bIns="0">
            <a:spAutoFit/>
          </a:bodyPr>
          <a:lstStyle/>
          <a:p>
            <a:pPr>
              <a:spcAft>
                <a:spcPts val="500"/>
              </a:spcAft>
              <a:defRPr sz="1200" b="1">
                <a:solidFill>
                  <a:srgbClr val="007E86"/>
                </a:solidFill>
                <a:latin typeface="Arial"/>
              </a:defRPr>
            </a:pPr>
            <a:r>
              <a:t>CONTINUE THE CONVERSATION</a:t>
            </a:r>
          </a:p>
        </p:txBody>
      </p:sp>
      <p:sp>
        <p:nvSpPr>
          <p:cNvPr id="4" name="TextBox 3"/>
          <p:cNvSpPr txBox="1"/>
          <p:nvPr/>
        </p:nvSpPr>
        <p:spPr>
          <a:xfrm>
            <a:off x="548640" y="859536"/>
            <a:ext cx="11064240" cy="868680"/>
          </a:xfrm>
          <a:prstGeom prst="rect">
            <a:avLst/>
          </a:prstGeom>
          <a:noFill/>
        </p:spPr>
        <p:txBody>
          <a:bodyPr wrap="square" lIns="0" rIns="0" tIns="0" bIns="0">
            <a:spAutoFit/>
          </a:bodyPr>
          <a:lstStyle/>
          <a:p>
            <a:pPr>
              <a:spcAft>
                <a:spcPts val="500"/>
              </a:spcAft>
              <a:defRPr sz="3400" b="1">
                <a:solidFill>
                  <a:srgbClr val="173343"/>
                </a:solidFill>
                <a:latin typeface="Arial"/>
              </a:defRPr>
            </a:pPr>
            <a:r>
              <a:t>Thank you for joining ReS AI 2026</a:t>
            </a:r>
          </a:p>
        </p:txBody>
      </p:sp>
      <p:cxnSp>
        <p:nvCxnSpPr>
          <p:cNvPr id="5" name="Connector 4"/>
          <p:cNvCxnSpPr/>
          <p:nvPr/>
        </p:nvCxnSpPr>
        <p:spPr>
          <a:xfrm>
            <a:off x="548640" y="6391656"/>
            <a:ext cx="11082528" cy="0"/>
          </a:xfrm>
          <a:prstGeom prst="line">
            <a:avLst/>
          </a:prstGeom>
          <a:ln w="8890">
            <a:solidFill>
              <a:srgbClr val="D8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9144000" cy="182880"/>
          </a:xfrm>
          <a:prstGeom prst="rect">
            <a:avLst/>
          </a:prstGeom>
          <a:noFill/>
        </p:spPr>
        <p:txBody>
          <a:bodyPr wrap="square" lIns="0" rIns="0" tIns="0" bIns="0">
            <a:spAutoFit/>
          </a:bodyPr>
          <a:lstStyle/>
          <a:p>
            <a:pPr>
              <a:spcAft>
                <a:spcPts val="500"/>
              </a:spcAft>
              <a:defRPr sz="1000" b="0">
                <a:solidFill>
                  <a:srgbClr val="536976"/>
                </a:solidFill>
                <a:latin typeface="Arial"/>
              </a:defRPr>
            </a:pPr>
            <a:r>
              <a:t>ReS AI 2026  /  IROS • Pittsburgh  /  September 27</a:t>
            </a:r>
          </a:p>
        </p:txBody>
      </p:sp>
      <p:sp>
        <p:nvSpPr>
          <p:cNvPr id="7" name="TextBox 6"/>
          <p:cNvSpPr txBox="1"/>
          <p:nvPr/>
        </p:nvSpPr>
        <p:spPr>
          <a:xfrm>
            <a:off x="11064240" y="6473952"/>
            <a:ext cx="548640" cy="228600"/>
          </a:xfrm>
          <a:prstGeom prst="rect">
            <a:avLst/>
          </a:prstGeom>
          <a:noFill/>
        </p:spPr>
        <p:txBody>
          <a:bodyPr wrap="square" lIns="0" rIns="0" tIns="0" bIns="0">
            <a:spAutoFit/>
          </a:bodyPr>
          <a:lstStyle/>
          <a:p>
            <a:pPr algn="r">
              <a:spcAft>
                <a:spcPts val="500"/>
              </a:spcAft>
              <a:defRPr sz="1100" b="0">
                <a:solidFill>
                  <a:srgbClr val="536976"/>
                </a:solidFill>
                <a:latin typeface="Arial"/>
              </a:defRPr>
            </a:pPr>
            <a:r>
              <a:t>25</a:t>
            </a:r>
          </a:p>
        </p:txBody>
      </p:sp>
      <p:sp>
        <p:nvSpPr>
          <p:cNvPr id="8" name="TextBox 7"/>
          <p:cNvSpPr txBox="1"/>
          <p:nvPr/>
        </p:nvSpPr>
        <p:spPr>
          <a:xfrm>
            <a:off x="640080" y="1856231"/>
            <a:ext cx="10881360" cy="685800"/>
          </a:xfrm>
          <a:prstGeom prst="rect">
            <a:avLst/>
          </a:prstGeom>
          <a:noFill/>
        </p:spPr>
        <p:txBody>
          <a:bodyPr wrap="square" lIns="0" rIns="0" tIns="0" bIns="0">
            <a:spAutoFit/>
          </a:bodyPr>
          <a:lstStyle/>
          <a:p>
            <a:pPr>
              <a:spcAft>
                <a:spcPts val="500"/>
              </a:spcAft>
              <a:defRPr sz="3500" b="1">
                <a:solidFill>
                  <a:srgbClr val="007E86"/>
                </a:solidFill>
                <a:latin typeface="Arial"/>
              </a:defRPr>
            </a:pPr>
            <a:r>
              <a:t>Reliable. Adaptable. Trustworthy.</a:t>
            </a:r>
          </a:p>
        </p:txBody>
      </p:sp>
      <p:sp>
        <p:nvSpPr>
          <p:cNvPr id="9" name="TextBox 8"/>
          <p:cNvSpPr txBox="1"/>
          <p:nvPr/>
        </p:nvSpPr>
        <p:spPr>
          <a:xfrm>
            <a:off x="640080" y="2898648"/>
            <a:ext cx="7772400" cy="731520"/>
          </a:xfrm>
          <a:prstGeom prst="rect">
            <a:avLst/>
          </a:prstGeom>
          <a:noFill/>
        </p:spPr>
        <p:txBody>
          <a:bodyPr wrap="square" lIns="0" rIns="0" tIns="0" bIns="0">
            <a:spAutoFit/>
          </a:bodyPr>
          <a:lstStyle/>
          <a:p>
            <a:pPr>
              <a:spcAft>
                <a:spcPts val="500"/>
              </a:spcAft>
              <a:defRPr sz="2600" b="0">
                <a:solidFill>
                  <a:srgbClr val="173343"/>
                </a:solidFill>
                <a:latin typeface="Arial"/>
              </a:defRPr>
            </a:pPr>
            <a:r>
              <a:t>Program • Talk abstracts • Accepted papers</a:t>
            </a:r>
          </a:p>
        </p:txBody>
      </p:sp>
      <p:sp>
        <p:nvSpPr>
          <p:cNvPr id="10" name="TextBox 9">
            <a:hlinkClick r:id="rId3"/>
          </p:cNvPr>
          <p:cNvSpPr txBox="1"/>
          <p:nvPr/>
        </p:nvSpPr>
        <p:spPr>
          <a:xfrm>
            <a:off x="640080" y="3794760"/>
            <a:ext cx="7772400" cy="548640"/>
          </a:xfrm>
          <a:prstGeom prst="rect">
            <a:avLst/>
          </a:prstGeom>
          <a:noFill/>
        </p:spPr>
        <p:txBody>
          <a:bodyPr wrap="square" lIns="0" rIns="0" tIns="0" bIns="0">
            <a:spAutoFit/>
          </a:bodyPr>
          <a:lstStyle/>
          <a:p>
            <a:pPr>
              <a:spcAft>
                <a:spcPts val="500"/>
              </a:spcAft>
              <a:defRPr sz="2800" b="1">
                <a:solidFill>
                  <a:srgbClr val="007E86"/>
                </a:solidFill>
                <a:latin typeface="Arial"/>
              </a:defRPr>
            </a:pPr>
            <a:r>
              <a:t>embodied-nesy.github.io</a:t>
            </a:r>
          </a:p>
        </p:txBody>
      </p:sp>
      <p:sp>
        <p:nvSpPr>
          <p:cNvPr id="11" name="TextBox 10">
            <a:hlinkClick r:id="rId4"/>
          </p:cNvPr>
          <p:cNvSpPr txBox="1"/>
          <p:nvPr/>
        </p:nvSpPr>
        <p:spPr>
          <a:xfrm>
            <a:off x="640080" y="4791456"/>
            <a:ext cx="7680960" cy="502920"/>
          </a:xfrm>
          <a:prstGeom prst="rect">
            <a:avLst/>
          </a:prstGeom>
          <a:noFill/>
        </p:spPr>
        <p:txBody>
          <a:bodyPr wrap="square" lIns="0" rIns="0" tIns="0" bIns="0">
            <a:spAutoFit/>
          </a:bodyPr>
          <a:lstStyle/>
          <a:p>
            <a:pPr>
              <a:spcAft>
                <a:spcPts val="500"/>
              </a:spcAft>
              <a:defRPr sz="2200" b="0">
                <a:solidFill>
                  <a:srgbClr val="007E86"/>
                </a:solidFill>
                <a:latin typeface="Arial"/>
              </a:defRPr>
            </a:pPr>
            <a:r>
              <a:t>Remote participation: Join on Zoom</a:t>
            </a:r>
          </a:p>
        </p:txBody>
      </p:sp>
      <p:sp>
        <p:nvSpPr>
          <p:cNvPr id="12" name="TextBox 11"/>
          <p:cNvSpPr txBox="1"/>
          <p:nvPr/>
        </p:nvSpPr>
        <p:spPr>
          <a:xfrm>
            <a:off x="640080" y="5504688"/>
            <a:ext cx="8321040" cy="621792"/>
          </a:xfrm>
          <a:prstGeom prst="rect">
            <a:avLst/>
          </a:prstGeom>
          <a:noFill/>
        </p:spPr>
        <p:txBody>
          <a:bodyPr wrap="square" lIns="0" rIns="0" tIns="0" bIns="0">
            <a:spAutoFit/>
          </a:bodyPr>
          <a:lstStyle/>
          <a:p>
            <a:pPr>
              <a:spcAft>
                <a:spcPts val="500"/>
              </a:spcAft>
              <a:defRPr sz="2100" b="0">
                <a:solidFill>
                  <a:srgbClr val="536976"/>
                </a:solidFill>
                <a:latin typeface="Arial"/>
              </a:defRPr>
            </a:pPr>
            <a:r>
              <a:t>With thanks to our speakers, authors, reviewers,</a:t>
            </a:r>
          </a:p>
          <a:p>
            <a:pPr>
              <a:spcAft>
                <a:spcPts val="500"/>
              </a:spcAft>
              <a:defRPr sz="2100" b="0">
                <a:solidFill>
                  <a:srgbClr val="536976"/>
                </a:solidFill>
                <a:latin typeface="Arial"/>
              </a:defRPr>
            </a:pPr>
            <a:r>
              <a:t>organizers, and everyone taking part.</a:t>
            </a:r>
          </a:p>
        </p:txBody>
      </p:sp>
      <p:pic>
        <p:nvPicPr>
          <p:cNvPr id="13" name="Picture 12" descr="workshop-qr.png"/>
          <p:cNvPicPr>
            <a:picLocks noChangeAspect="1"/>
          </p:cNvPicPr>
          <p:nvPr/>
        </p:nvPicPr>
        <p:blipFill>
          <a:blip r:embed="rId5"/>
          <a:stretch>
            <a:fillRect/>
          </a:stretch>
        </p:blipFill>
        <p:spPr>
          <a:xfrm>
            <a:off x="9144000" y="2852928"/>
            <a:ext cx="2377440" cy="2377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 AI 2026 — Opening &amp; Workshop Proceedings</dc:title>
  <dc:subject>Embodied Neuro-Symbolic AI for Reliable and Safe Robotics | IROS 2026</dc:subject>
  <dc:creator>ReS AI 2026 Organizers</dc:creator>
  <cp:keywords>IROS 2026, ReS AI, neuro-symbolic robotics, workshop</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