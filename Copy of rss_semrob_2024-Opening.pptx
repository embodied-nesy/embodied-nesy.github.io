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86" r:id="rId3"/>
    <p:sldId id="281" r:id="rId4"/>
    <p:sldId id="282" r:id="rId5"/>
    <p:sldId id="283" r:id="rId6"/>
    <p:sldId id="284" r:id="rId7"/>
    <p:sldId id="280" r:id="rId8"/>
    <p:sldId id="287" r:id="rId9"/>
    <p:sldId id="285" r:id="rId10"/>
    <p:sldId id="276" r:id="rId11"/>
    <p:sldId id="277" r:id="rId12"/>
    <p:sldId id="274" r:id="rId13"/>
    <p:sldId id="275" r:id="rId14"/>
    <p:sldId id="278" r:id="rId15"/>
    <p:sldId id="279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22"/>
    <p:restoredTop sz="83489"/>
  </p:normalViewPr>
  <p:slideViewPr>
    <p:cSldViewPr snapToGrid="0">
      <p:cViewPr>
        <p:scale>
          <a:sx n="151" d="100"/>
          <a:sy n="151" d="100"/>
        </p:scale>
        <p:origin x="944" y="4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8228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4026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964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7979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94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3748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2664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8165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535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577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34171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708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6545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3ea1583c00_3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3ea1583c00_3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30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Relationship Id="rId9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8F50-65F6-0E78-716A-40BF7398CA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336921" y="518009"/>
            <a:ext cx="8470158" cy="41074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8F50-65F6-0E78-716A-40BF7398CA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6076060" y="0"/>
            <a:ext cx="2944664" cy="14279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CDF9F7-3A7D-12AC-EDA6-F5C157A29122}"/>
              </a:ext>
            </a:extLst>
          </p:cNvPr>
          <p:cNvSpPr txBox="1"/>
          <p:nvPr/>
        </p:nvSpPr>
        <p:spPr>
          <a:xfrm>
            <a:off x="316195" y="452376"/>
            <a:ext cx="4975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Committees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09F58B5-02C8-DE81-9CEA-E557DBA41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95" y="2274156"/>
            <a:ext cx="4255805" cy="24188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ACCF5D6-FAFC-651E-704C-F37EAA8B0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6055" y="2262756"/>
            <a:ext cx="3814669" cy="1669817"/>
          </a:xfrm>
          <a:prstGeom prst="rect">
            <a:avLst/>
          </a:prstGeom>
        </p:spPr>
      </p:pic>
      <p:sp>
        <p:nvSpPr>
          <p:cNvPr id="21" name="Google Shape;125;p24">
            <a:extLst>
              <a:ext uri="{FF2B5EF4-FFF2-40B4-BE49-F238E27FC236}">
                <a16:creationId xmlns:a16="http://schemas.microsoft.com/office/drawing/2014/main" id="{2A62E03E-FA2A-D273-26A7-CFA45FDB52F0}"/>
              </a:ext>
            </a:extLst>
          </p:cNvPr>
          <p:cNvSpPr txBox="1"/>
          <p:nvPr/>
        </p:nvSpPr>
        <p:spPr>
          <a:xfrm>
            <a:off x="1313933" y="1753315"/>
            <a:ext cx="22603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err="1">
                <a:solidFill>
                  <a:srgbClr val="B7B7B7"/>
                </a:solidFill>
              </a:rPr>
              <a:t>Organising</a:t>
            </a:r>
            <a:r>
              <a:rPr lang="en" b="1" dirty="0">
                <a:solidFill>
                  <a:srgbClr val="B7B7B7"/>
                </a:solidFill>
              </a:rPr>
              <a:t> Committee</a:t>
            </a:r>
            <a:endParaRPr b="1" dirty="0">
              <a:solidFill>
                <a:srgbClr val="B7B7B7"/>
              </a:solidFill>
            </a:endParaRPr>
          </a:p>
        </p:txBody>
      </p:sp>
      <p:sp>
        <p:nvSpPr>
          <p:cNvPr id="22" name="Google Shape;126;p24">
            <a:extLst>
              <a:ext uri="{FF2B5EF4-FFF2-40B4-BE49-F238E27FC236}">
                <a16:creationId xmlns:a16="http://schemas.microsoft.com/office/drawing/2014/main" id="{0AE26EC1-117A-9C81-0433-618D9E69889F}"/>
              </a:ext>
            </a:extLst>
          </p:cNvPr>
          <p:cNvSpPr txBox="1"/>
          <p:nvPr/>
        </p:nvSpPr>
        <p:spPr>
          <a:xfrm>
            <a:off x="5983226" y="1753314"/>
            <a:ext cx="22603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err="1">
                <a:solidFill>
                  <a:srgbClr val="B7B7B7"/>
                </a:solidFill>
              </a:rPr>
              <a:t>Programme</a:t>
            </a:r>
            <a:r>
              <a:rPr lang="en" b="1" dirty="0">
                <a:solidFill>
                  <a:srgbClr val="B7B7B7"/>
                </a:solidFill>
              </a:rPr>
              <a:t> Committee</a:t>
            </a:r>
            <a:endParaRPr b="1" dirty="0">
              <a:solidFill>
                <a:srgbClr val="B7B7B7"/>
              </a:solidFill>
            </a:endParaRPr>
          </a:p>
        </p:txBody>
      </p:sp>
      <p:sp>
        <p:nvSpPr>
          <p:cNvPr id="23" name="Google Shape;127;p24">
            <a:extLst>
              <a:ext uri="{FF2B5EF4-FFF2-40B4-BE49-F238E27FC236}">
                <a16:creationId xmlns:a16="http://schemas.microsoft.com/office/drawing/2014/main" id="{A81AF697-CC9C-11CE-F963-F4E87AAA09A2}"/>
              </a:ext>
            </a:extLst>
          </p:cNvPr>
          <p:cNvSpPr txBox="1"/>
          <p:nvPr/>
        </p:nvSpPr>
        <p:spPr>
          <a:xfrm>
            <a:off x="5582355" y="4041936"/>
            <a:ext cx="3025423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dirty="0">
                <a:solidFill>
                  <a:srgbClr val="999999"/>
                </a:solidFill>
                <a:highlight>
                  <a:srgbClr val="FFFFFF"/>
                </a:highlight>
              </a:rPr>
              <a:t>ER</a:t>
            </a:r>
            <a:r>
              <a:rPr lang="en-US" sz="600" dirty="0">
                <a:solidFill>
                  <a:srgbClr val="999999"/>
                </a:solidFill>
                <a:highlight>
                  <a:srgbClr val="FFFFFF"/>
                </a:highlight>
              </a:rPr>
              <a:t> — </a:t>
            </a:r>
            <a:r>
              <a:rPr lang="en-US" sz="600" dirty="0" err="1">
                <a:solidFill>
                  <a:srgbClr val="999999"/>
                </a:solidFill>
                <a:highlight>
                  <a:srgbClr val="FFFFFF"/>
                </a:highlight>
              </a:rPr>
              <a:t>Recognises</a:t>
            </a:r>
            <a:r>
              <a:rPr lang="en-US" sz="600" dirty="0">
                <a:solidFill>
                  <a:srgbClr val="999999"/>
                </a:solidFill>
                <a:highlight>
                  <a:srgbClr val="FFFFFF"/>
                </a:highlight>
              </a:rPr>
              <a:t> PC member who served as an </a:t>
            </a:r>
            <a:r>
              <a:rPr lang="en-US" sz="600" b="1" dirty="0">
                <a:solidFill>
                  <a:srgbClr val="999999"/>
                </a:solidFill>
                <a:highlight>
                  <a:srgbClr val="FFFFFF"/>
                </a:highlight>
              </a:rPr>
              <a:t>Emergency Reviewer</a:t>
            </a:r>
            <a:r>
              <a:rPr lang="en-US" sz="600" dirty="0">
                <a:solidFill>
                  <a:srgbClr val="999999"/>
                </a:solidFill>
                <a:highlight>
                  <a:srgbClr val="FFFFFF"/>
                </a:highlight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dirty="0">
                <a:solidFill>
                  <a:srgbClr val="999999"/>
                </a:solidFill>
                <a:highlight>
                  <a:srgbClr val="FFFFFF"/>
                </a:highlight>
              </a:rPr>
              <a:t>TR</a:t>
            </a:r>
            <a:r>
              <a:rPr lang="en-US" sz="600" dirty="0">
                <a:solidFill>
                  <a:srgbClr val="999999"/>
                </a:solidFill>
                <a:highlight>
                  <a:srgbClr val="FFFFFF"/>
                </a:highlight>
              </a:rPr>
              <a:t> — </a:t>
            </a:r>
            <a:r>
              <a:rPr lang="en-US" sz="600" dirty="0" err="1">
                <a:solidFill>
                  <a:srgbClr val="999999"/>
                </a:solidFill>
                <a:highlight>
                  <a:srgbClr val="FFFFFF"/>
                </a:highlight>
              </a:rPr>
              <a:t>Recognises</a:t>
            </a:r>
            <a:r>
              <a:rPr lang="en-US" sz="600" dirty="0">
                <a:solidFill>
                  <a:srgbClr val="999999"/>
                </a:solidFill>
                <a:highlight>
                  <a:srgbClr val="FFFFFF"/>
                </a:highlight>
              </a:rPr>
              <a:t> PC member who ranked in the </a:t>
            </a:r>
            <a:r>
              <a:rPr lang="en-US" sz="600" b="1" dirty="0">
                <a:solidFill>
                  <a:srgbClr val="999999"/>
                </a:solidFill>
                <a:highlight>
                  <a:srgbClr val="FFFFFF"/>
                </a:highlight>
              </a:rPr>
              <a:t>top 10%</a:t>
            </a:r>
            <a:r>
              <a:rPr lang="en-US" sz="600" dirty="0">
                <a:solidFill>
                  <a:srgbClr val="999999"/>
                </a:solidFill>
                <a:highlight>
                  <a:srgbClr val="FFFFFF"/>
                </a:highlight>
              </a:rPr>
              <a:t> of all Reviewers.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dirty="0">
                <a:solidFill>
                  <a:srgbClr val="999999"/>
                </a:solidFill>
                <a:highlight>
                  <a:srgbClr val="FFFFFF"/>
                </a:highlight>
              </a:rPr>
              <a:t>MR</a:t>
            </a:r>
            <a:r>
              <a:rPr lang="en-US" sz="600" dirty="0">
                <a:solidFill>
                  <a:srgbClr val="999999"/>
                </a:solidFill>
                <a:highlight>
                  <a:srgbClr val="FFFFFF"/>
                </a:highlight>
              </a:rPr>
              <a:t> — </a:t>
            </a:r>
            <a:r>
              <a:rPr lang="en-US" sz="600" dirty="0" err="1">
                <a:solidFill>
                  <a:srgbClr val="999999"/>
                </a:solidFill>
                <a:highlight>
                  <a:srgbClr val="FFFFFF"/>
                </a:highlight>
              </a:rPr>
              <a:t>Recognises</a:t>
            </a:r>
            <a:r>
              <a:rPr lang="en-US" sz="600" dirty="0">
                <a:solidFill>
                  <a:srgbClr val="999999"/>
                </a:solidFill>
                <a:highlight>
                  <a:srgbClr val="FFFFFF"/>
                </a:highlight>
              </a:rPr>
              <a:t> PC member who provided their services as a </a:t>
            </a:r>
            <a:r>
              <a:rPr lang="en-US" sz="600" b="1" dirty="0">
                <a:solidFill>
                  <a:srgbClr val="999999"/>
                </a:solidFill>
                <a:highlight>
                  <a:srgbClr val="FFFFFF"/>
                </a:highlight>
              </a:rPr>
              <a:t>Meta-Reviewer</a:t>
            </a:r>
            <a:r>
              <a:rPr lang="en-US" sz="600" dirty="0">
                <a:solidFill>
                  <a:srgbClr val="999999"/>
                </a:solidFill>
                <a:highlight>
                  <a:srgbClr val="FFFFFF"/>
                </a:highlight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dirty="0">
                <a:solidFill>
                  <a:srgbClr val="999999"/>
                </a:solidFill>
                <a:highlight>
                  <a:srgbClr val="FFFFFF"/>
                </a:highlight>
              </a:rPr>
              <a:t>Ch </a:t>
            </a:r>
            <a:r>
              <a:rPr lang="en-US" sz="600" dirty="0">
                <a:solidFill>
                  <a:srgbClr val="999999"/>
                </a:solidFill>
                <a:highlight>
                  <a:srgbClr val="FFFFFF"/>
                </a:highlight>
              </a:rPr>
              <a:t>— </a:t>
            </a:r>
            <a:r>
              <a:rPr lang="en-US" sz="600" b="1" dirty="0">
                <a:solidFill>
                  <a:srgbClr val="999999"/>
                </a:solidFill>
                <a:highlight>
                  <a:srgbClr val="FFFFFF"/>
                </a:highlight>
              </a:rPr>
              <a:t>Paper Track Chair</a:t>
            </a:r>
            <a:r>
              <a:rPr lang="en-US" sz="600" dirty="0">
                <a:solidFill>
                  <a:srgbClr val="999999"/>
                </a:solidFill>
                <a:highlight>
                  <a:srgbClr val="FFFFFF"/>
                </a:highlight>
              </a:rPr>
              <a:t>.</a:t>
            </a:r>
            <a:endParaRPr sz="600" dirty="0">
              <a:solidFill>
                <a:srgbClr val="9999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059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8F50-65F6-0E78-716A-40BF7398CA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6076060" y="0"/>
            <a:ext cx="2944664" cy="14279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CDF9F7-3A7D-12AC-EDA6-F5C157A29122}"/>
              </a:ext>
            </a:extLst>
          </p:cNvPr>
          <p:cNvSpPr txBox="1"/>
          <p:nvPr/>
        </p:nvSpPr>
        <p:spPr>
          <a:xfrm>
            <a:off x="316195" y="452376"/>
            <a:ext cx="4975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Overview</a:t>
            </a:r>
          </a:p>
        </p:txBody>
      </p:sp>
      <p:sp>
        <p:nvSpPr>
          <p:cNvPr id="4" name="Google Shape;132;p25">
            <a:extLst>
              <a:ext uri="{FF2B5EF4-FFF2-40B4-BE49-F238E27FC236}">
                <a16:creationId xmlns:a16="http://schemas.microsoft.com/office/drawing/2014/main" id="{D84B6A66-CA73-6872-685E-5AC8E57DBE2B}"/>
              </a:ext>
            </a:extLst>
          </p:cNvPr>
          <p:cNvSpPr txBox="1"/>
          <p:nvPr/>
        </p:nvSpPr>
        <p:spPr>
          <a:xfrm>
            <a:off x="817297" y="1651375"/>
            <a:ext cx="7671248" cy="298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We emphasize methods that combine foundation models representations with mechanisms that may prove useful for semantic reasoning and abstract goal understanding, e.g., neural memory mechanisms, procedural modules (e.g., cognitive architectures), neuro-symbolic representations (e.g., knowledge/scene graph embeddings), chain-of-thought reasoning mechanisms, robot skill primitives and their composition, world model representations, etc.</a:t>
            </a:r>
            <a:br>
              <a:rPr lang="en-US" i="1" dirty="0"/>
            </a:br>
            <a:endParaRPr lang="en-US" i="1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We unite engineers, researchers, and practitioners from different communities to enable interdisciplinary research on methods that facilitate deployment of semantics-aware and generalizable embodied agents in unstructured and dynamic real world environments. Our organizers, presenters, panelists, and TPC are drawn from: Robot Learning, Embodied AI, Planning + Controls, Cognitive Robotics, Neuro-Symbolism, Natural Language Processing, Computer Vision, and Multimodal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2556186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8F50-65F6-0E78-716A-40BF7398CA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6076060" y="0"/>
            <a:ext cx="2944664" cy="14279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CDF9F7-3A7D-12AC-EDA6-F5C157A29122}"/>
              </a:ext>
            </a:extLst>
          </p:cNvPr>
          <p:cNvSpPr txBox="1"/>
          <p:nvPr/>
        </p:nvSpPr>
        <p:spPr>
          <a:xfrm>
            <a:off x="316195" y="452376"/>
            <a:ext cx="4975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Research Questions</a:t>
            </a:r>
          </a:p>
        </p:txBody>
      </p:sp>
      <p:sp>
        <p:nvSpPr>
          <p:cNvPr id="33" name="Google Shape;132;p25">
            <a:extLst>
              <a:ext uri="{FF2B5EF4-FFF2-40B4-BE49-F238E27FC236}">
                <a16:creationId xmlns:a16="http://schemas.microsoft.com/office/drawing/2014/main" id="{B9C308AF-3658-57C7-904E-376E468E0635}"/>
              </a:ext>
            </a:extLst>
          </p:cNvPr>
          <p:cNvSpPr txBox="1"/>
          <p:nvPr/>
        </p:nvSpPr>
        <p:spPr>
          <a:xfrm>
            <a:off x="817297" y="1651375"/>
            <a:ext cx="7671248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What are the most effective representations and reasoning mechanisms for semantic understanding in Robotics?</a:t>
            </a:r>
            <a:endParaRPr lang="en" i="1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endParaRPr lang="en" i="1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Should vision and language remain the primary grounding bases for robot-centric state representations?</a:t>
            </a:r>
            <a:br>
              <a:rPr lang="en" i="1" dirty="0"/>
            </a:br>
            <a:endParaRPr i="1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What are the best ways to combine explicit and implicit scene context representations, for robot decision-making and control in real-world settings?</a:t>
            </a:r>
            <a:br>
              <a:rPr lang="en" i="1" dirty="0"/>
            </a:br>
            <a:endParaRPr i="1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How to leverage computationally-expensive resources (e.g., foundation models) for inference on resource-constrained robotics platforms?</a:t>
            </a:r>
            <a:br>
              <a:rPr lang="en" i="1" dirty="0"/>
            </a:br>
            <a:endParaRPr i="1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How to ensure safe decision-making while using pre-trained multimodal foundation models in novel and dynamic environments?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217734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8F50-65F6-0E78-716A-40BF7398CA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6076060" y="0"/>
            <a:ext cx="2944664" cy="14279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CDF9F7-3A7D-12AC-EDA6-F5C157A29122}"/>
              </a:ext>
            </a:extLst>
          </p:cNvPr>
          <p:cNvSpPr txBox="1"/>
          <p:nvPr/>
        </p:nvSpPr>
        <p:spPr>
          <a:xfrm>
            <a:off x="316195" y="452376"/>
            <a:ext cx="4975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Workshop Topics</a:t>
            </a:r>
          </a:p>
        </p:txBody>
      </p:sp>
      <p:sp>
        <p:nvSpPr>
          <p:cNvPr id="33" name="Google Shape;132;p25">
            <a:extLst>
              <a:ext uri="{FF2B5EF4-FFF2-40B4-BE49-F238E27FC236}">
                <a16:creationId xmlns:a16="http://schemas.microsoft.com/office/drawing/2014/main" id="{B9C308AF-3658-57C7-904E-376E468E0635}"/>
              </a:ext>
            </a:extLst>
          </p:cNvPr>
          <p:cNvSpPr txBox="1"/>
          <p:nvPr/>
        </p:nvSpPr>
        <p:spPr>
          <a:xfrm>
            <a:off x="817297" y="1651375"/>
            <a:ext cx="7671248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Methods for learning </a:t>
            </a:r>
            <a:r>
              <a:rPr lang="en-US" b="1" i="1" dirty="0"/>
              <a:t>semantically-rich and generalizable state representations</a:t>
            </a:r>
            <a:r>
              <a:rPr lang="en-US" i="1" dirty="0"/>
              <a:t> 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Methods for learning general </a:t>
            </a:r>
            <a:r>
              <a:rPr lang="en-US" b="1" i="1" dirty="0"/>
              <a:t>goal representations</a:t>
            </a:r>
            <a:r>
              <a:rPr lang="en-US" i="1" dirty="0"/>
              <a:t>, e.g., in instruction-following 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Reasoning mechanisms for </a:t>
            </a:r>
            <a:r>
              <a:rPr lang="en-US" b="1" i="1" dirty="0"/>
              <a:t>generalization in open-vocabulary contexts</a:t>
            </a:r>
            <a:r>
              <a:rPr lang="en-US" i="1" dirty="0"/>
              <a:t>, focused on real-world deployment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Planning with chain-of-thought mechanisms and </a:t>
            </a:r>
            <a:r>
              <a:rPr lang="en-US" b="1" i="1" dirty="0"/>
              <a:t>reasoning about failures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Novel neural architectures exploring </a:t>
            </a:r>
            <a:r>
              <a:rPr lang="en-US" b="1" i="1" dirty="0"/>
              <a:t>multimodal prompt mechanisms</a:t>
            </a:r>
            <a:r>
              <a:rPr lang="en-US" i="1" dirty="0"/>
              <a:t> 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Efforts to leverage foundation models for robotics tasks; efforts to create </a:t>
            </a:r>
            <a:r>
              <a:rPr lang="en-US" b="1" i="1" dirty="0"/>
              <a:t>robotics foundation models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Methods for grounding distilled foundation model representations with </a:t>
            </a:r>
            <a:r>
              <a:rPr lang="en-US" b="1" i="1" dirty="0"/>
              <a:t>additional modalities</a:t>
            </a:r>
            <a:r>
              <a:rPr lang="en-US" i="1" dirty="0"/>
              <a:t> (e.g., haptics, audio, IMU signals, joint torques, etc.)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Paradigms for </a:t>
            </a:r>
            <a:r>
              <a:rPr lang="en-US" b="1" i="1" dirty="0"/>
              <a:t>data-efficient concept learning</a:t>
            </a:r>
            <a:r>
              <a:rPr lang="en-US" i="1" dirty="0"/>
              <a:t>, e.g., learning generalizable skills from few-shot demonstrations, interactive perception, co-simulation, etc.</a:t>
            </a:r>
          </a:p>
        </p:txBody>
      </p:sp>
    </p:spTree>
    <p:extLst>
      <p:ext uri="{BB962C8B-B14F-4D97-AF65-F5344CB8AC3E}">
        <p14:creationId xmlns:p14="http://schemas.microsoft.com/office/powerpoint/2010/main" val="3750716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8F50-65F6-0E78-716A-40BF7398CA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6076060" y="0"/>
            <a:ext cx="2944664" cy="14279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CDF9F7-3A7D-12AC-EDA6-F5C157A29122}"/>
              </a:ext>
            </a:extLst>
          </p:cNvPr>
          <p:cNvSpPr txBox="1"/>
          <p:nvPr/>
        </p:nvSpPr>
        <p:spPr>
          <a:xfrm>
            <a:off x="316195" y="452376"/>
            <a:ext cx="4975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Paper Track</a:t>
            </a:r>
          </a:p>
        </p:txBody>
      </p:sp>
      <p:sp>
        <p:nvSpPr>
          <p:cNvPr id="33" name="Google Shape;132;p25">
            <a:extLst>
              <a:ext uri="{FF2B5EF4-FFF2-40B4-BE49-F238E27FC236}">
                <a16:creationId xmlns:a16="http://schemas.microsoft.com/office/drawing/2014/main" id="{B9C308AF-3658-57C7-904E-376E468E0635}"/>
              </a:ext>
            </a:extLst>
          </p:cNvPr>
          <p:cNvSpPr txBox="1"/>
          <p:nvPr/>
        </p:nvSpPr>
        <p:spPr>
          <a:xfrm>
            <a:off x="1480841" y="2571750"/>
            <a:ext cx="7007703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itchFamily="2" charset="77"/>
              </a:rPr>
              <a:t>(#2) la VIDA: Towards a Motivated Goal Reasoning Agent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</a:t>
            </a:r>
            <a:r>
              <a:rPr lang="en-US" sz="700" b="1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itchFamily="2" charset="77"/>
              </a:rPr>
              <a:t>#3) Open6DOR: Benchmarking Open-instruction 6-DoF Object Rearrangement and A VLM-based Approach</a:t>
            </a:r>
            <a:endParaRPr lang="en-US" sz="700" b="1" dirty="0">
              <a:solidFill>
                <a:srgbClr val="212529"/>
              </a:solidFill>
              <a:highlight>
                <a:srgbClr val="FFFFFF"/>
              </a:highlight>
              <a:latin typeface="Montserrat" pitchFamily="2" charset="77"/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</a:t>
            </a:r>
            <a:r>
              <a:rPr lang="en-US" sz="700" b="1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itchFamily="2" charset="77"/>
              </a:rPr>
              <a:t>#4) SAGE: Bridging Semantic and Actionable Parts for Generalizable Manipulation of Articulated Objects </a:t>
            </a:r>
            <a:r>
              <a:rPr lang="en-US" sz="700" b="1" i="0" dirty="0">
                <a:solidFill>
                  <a:srgbClr val="FF8C00"/>
                </a:solidFill>
                <a:effectLst/>
                <a:highlight>
                  <a:srgbClr val="FFFFFF"/>
                </a:highlight>
                <a:latin typeface="Montserrat" pitchFamily="2" charset="77"/>
              </a:rPr>
              <a:t>(spotlight)</a:t>
            </a:r>
            <a:endParaRPr lang="en-US" sz="700" b="1" dirty="0">
              <a:solidFill>
                <a:srgbClr val="212529"/>
              </a:solidFill>
              <a:effectLst/>
              <a:highlight>
                <a:srgbClr val="FFFFFF"/>
              </a:highlight>
              <a:latin typeface="Montserrat" pitchFamily="2" charset="77"/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</a:t>
            </a:r>
            <a:r>
              <a:rPr lang="en-US" sz="7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itchFamily="2" charset="77"/>
              </a:rPr>
              <a:t>#5) Behavior Generation with Latent Actions </a:t>
            </a:r>
            <a:r>
              <a:rPr lang="en-US" sz="700" b="1" i="0" dirty="0">
                <a:solidFill>
                  <a:srgbClr val="FF8C00"/>
                </a:solidFill>
                <a:effectLst/>
                <a:highlight>
                  <a:srgbClr val="FFFFFF"/>
                </a:highlight>
                <a:latin typeface="Montserrat" pitchFamily="2" charset="77"/>
              </a:rPr>
              <a:t>(spotlight)</a:t>
            </a:r>
            <a:endParaRPr lang="en-US" sz="700" b="1" i="0" dirty="0">
              <a:solidFill>
                <a:srgbClr val="212529"/>
              </a:solidFill>
              <a:highlight>
                <a:srgbClr val="FFFFFF"/>
              </a:highlight>
              <a:latin typeface="Montserrat" pitchFamily="2" charset="77"/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</a:t>
            </a:r>
            <a:r>
              <a:rPr lang="en-US" sz="7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itchFamily="2" charset="77"/>
              </a:rPr>
              <a:t>#6) Language models are robotic planners: reframing plans as goal refinement graphs</a:t>
            </a:r>
            <a:endParaRPr lang="en-US" sz="700" b="1" dirty="0">
              <a:solidFill>
                <a:srgbClr val="212529"/>
              </a:solidFill>
              <a:effectLst/>
              <a:highlight>
                <a:srgbClr val="FFFFFF"/>
              </a:highlight>
              <a:latin typeface="Montserrat" pitchFamily="2" charset="77"/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</a:t>
            </a:r>
            <a:r>
              <a:rPr lang="en-US" sz="7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itchFamily="2" charset="77"/>
              </a:rPr>
              <a:t>#7) OK-Robot: What Really Matters in Integrating Open-Knowledge Models for Robotics</a:t>
            </a:r>
            <a:endParaRPr lang="en-US" sz="700" b="1" i="0" dirty="0">
              <a:solidFill>
                <a:srgbClr val="212529"/>
              </a:solidFill>
              <a:highlight>
                <a:srgbClr val="FFFFFF"/>
              </a:highlight>
              <a:latin typeface="Montserrat" pitchFamily="2" charset="77"/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</a:t>
            </a:r>
            <a:r>
              <a:rPr lang="en-US" sz="7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itchFamily="2" charset="77"/>
              </a:rPr>
              <a:t>#9) Clio: Real-time Task-Driven Open-Set 3D Scene Graphs</a:t>
            </a:r>
            <a:endParaRPr lang="en-US" sz="700" b="1" dirty="0">
              <a:solidFill>
                <a:srgbClr val="212529"/>
              </a:solidFill>
              <a:effectLst/>
              <a:highlight>
                <a:srgbClr val="FFFFFF"/>
              </a:highlight>
              <a:latin typeface="Montserrat" pitchFamily="2" charset="77"/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</a:t>
            </a:r>
            <a:r>
              <a:rPr lang="en-US" sz="7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itchFamily="2" charset="77"/>
              </a:rPr>
              <a:t>#10) Opening Cabinets and Drawers in the Real World using a Commodity Mobile Manipulator</a:t>
            </a:r>
            <a:endParaRPr lang="en-US" sz="700" b="1" dirty="0">
              <a:solidFill>
                <a:srgbClr val="212529"/>
              </a:solidFill>
              <a:effectLst/>
              <a:highlight>
                <a:srgbClr val="FFFFFF"/>
              </a:highlight>
              <a:latin typeface="Montserrat" pitchFamily="2" charset="77"/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</a:t>
            </a:r>
            <a:r>
              <a:rPr lang="en-US" sz="7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itchFamily="2" charset="77"/>
              </a:rPr>
              <a:t>#12) VLA-3D: A Dataset for 3D Semantic Scene Understanding and Navigation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(#14) Enhancing Vision-Language Models with Scene Graphs for Traffic Accident Understanding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(#15) Which objects help me to act effectively? Reasoning about physically-grounded affordances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(#17) RAM: Retrieval-Based Affordance Transfer for Generalizable Zero-Shot Robotic Manipulation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(#19) Dialog-based Skill and Task Learning for Robot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(#20) Embodied AI Robot Companion for Efficient Object Handling in Bimanual Teleoperation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(#21) Grounding Language Plans in Demonstrations Through Counterfactual Perturbations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(#22) </a:t>
            </a:r>
            <a:r>
              <a:rPr lang="en-US" sz="700" b="1" dirty="0" err="1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RoboEXP</a:t>
            </a: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: Action-Conditioned Scene Graph via Interactive Exploration for Robotic Manipulation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(#23) Lang2LTL-2: Grounding Spatiotemporal Navigation Commands Using Large Language and Vision-Language Models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(#24) </a:t>
            </a:r>
            <a:r>
              <a:rPr lang="en-US" sz="700" b="1" dirty="0" err="1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CogExplore</a:t>
            </a: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: Contextual Exploration with Language Encoded Environment Representations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(#26) Language-Grounded Dynamic Scene Graphs for Interactive Object Search with Mobile Manipulation </a:t>
            </a:r>
            <a:r>
              <a:rPr lang="en-US" sz="700" b="1" i="0" dirty="0">
                <a:solidFill>
                  <a:srgbClr val="FF8C00"/>
                </a:solidFill>
                <a:effectLst/>
                <a:highlight>
                  <a:srgbClr val="FFFFFF"/>
                </a:highlight>
                <a:latin typeface="Montserrat" pitchFamily="2" charset="77"/>
              </a:rPr>
              <a:t>(spotlight)</a:t>
            </a:r>
            <a:endParaRPr lang="en-US" sz="700" b="1" dirty="0">
              <a:solidFill>
                <a:srgbClr val="212529"/>
              </a:solidFill>
              <a:highlight>
                <a:srgbClr val="FFFFFF"/>
              </a:highlight>
              <a:latin typeface="Montserrat" pitchFamily="2" charset="77"/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700" b="1" dirty="0">
                <a:solidFill>
                  <a:srgbClr val="212529"/>
                </a:solidFill>
                <a:highlight>
                  <a:srgbClr val="FFFFFF"/>
                </a:highlight>
                <a:latin typeface="Montserrat" pitchFamily="2" charset="77"/>
              </a:rPr>
              <a:t>(#27) Natural Language Can Help Bridge the Sim2Real Gap </a:t>
            </a:r>
            <a:r>
              <a:rPr lang="en-US" sz="700" b="1" i="0" dirty="0">
                <a:solidFill>
                  <a:srgbClr val="FF8C00"/>
                </a:solidFill>
                <a:effectLst/>
                <a:highlight>
                  <a:srgbClr val="FFFFFF"/>
                </a:highlight>
                <a:latin typeface="Montserrat" pitchFamily="2" charset="77"/>
              </a:rPr>
              <a:t>(spotlight)</a:t>
            </a:r>
            <a:endParaRPr lang="en-US" sz="700" dirty="0"/>
          </a:p>
        </p:txBody>
      </p:sp>
      <p:sp>
        <p:nvSpPr>
          <p:cNvPr id="4" name="Google Shape;132;p25">
            <a:extLst>
              <a:ext uri="{FF2B5EF4-FFF2-40B4-BE49-F238E27FC236}">
                <a16:creationId xmlns:a16="http://schemas.microsoft.com/office/drawing/2014/main" id="{FCCB21B9-E05B-9382-F235-4EDCC4672CD9}"/>
              </a:ext>
            </a:extLst>
          </p:cNvPr>
          <p:cNvSpPr txBox="1"/>
          <p:nvPr/>
        </p:nvSpPr>
        <p:spPr>
          <a:xfrm>
            <a:off x="817297" y="1331385"/>
            <a:ext cx="803539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Strong paper track, with 20 accepted papers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Topics including: leveraging RFMs for manipulation/grasping, affordance reasoning, scene graph generation, open-vocabulary mobile manipulation, transfer representation learning for robotics, and many more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20 posters, 4 of which were selected as spotlights</a:t>
            </a:r>
          </a:p>
        </p:txBody>
      </p:sp>
    </p:spTree>
    <p:extLst>
      <p:ext uri="{BB962C8B-B14F-4D97-AF65-F5344CB8AC3E}">
        <p14:creationId xmlns:p14="http://schemas.microsoft.com/office/powerpoint/2010/main" val="2535250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8F50-65F6-0E78-716A-40BF7398CA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6076060" y="0"/>
            <a:ext cx="2944664" cy="14279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CDF9F7-3A7D-12AC-EDA6-F5C157A29122}"/>
              </a:ext>
            </a:extLst>
          </p:cNvPr>
          <p:cNvSpPr txBox="1"/>
          <p:nvPr/>
        </p:nvSpPr>
        <p:spPr>
          <a:xfrm>
            <a:off x="316195" y="452376"/>
            <a:ext cx="4975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Speakers &amp; Panelists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D5BD3FF-D5DC-F95C-43F5-D044EFF04D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4383" b="52074"/>
          <a:stretch/>
        </p:blipFill>
        <p:spPr>
          <a:xfrm>
            <a:off x="2273641" y="1538243"/>
            <a:ext cx="3590398" cy="166643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B75D87E-583D-258E-3765-7996BE2425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783" b="52074"/>
          <a:stretch/>
        </p:blipFill>
        <p:spPr>
          <a:xfrm>
            <a:off x="2283167" y="3204673"/>
            <a:ext cx="1244808" cy="166643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E44DAA4-6CE6-A8FD-B356-F57125A65E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803" t="51828" r="23963" b="4915"/>
          <a:stretch/>
        </p:blipFill>
        <p:spPr>
          <a:xfrm>
            <a:off x="3431365" y="3204673"/>
            <a:ext cx="2432673" cy="150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216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8F50-65F6-0E78-716A-40BF7398CA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6076060" y="0"/>
            <a:ext cx="2944664" cy="14279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CDF9F7-3A7D-12AC-EDA6-F5C157A29122}"/>
              </a:ext>
            </a:extLst>
          </p:cNvPr>
          <p:cNvSpPr txBox="1"/>
          <p:nvPr/>
        </p:nvSpPr>
        <p:spPr>
          <a:xfrm>
            <a:off x="316195" y="452376"/>
            <a:ext cx="4975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Components</a:t>
            </a:r>
          </a:p>
        </p:txBody>
      </p:sp>
      <p:sp>
        <p:nvSpPr>
          <p:cNvPr id="4" name="Google Shape;132;p25">
            <a:extLst>
              <a:ext uri="{FF2B5EF4-FFF2-40B4-BE49-F238E27FC236}">
                <a16:creationId xmlns:a16="http://schemas.microsoft.com/office/drawing/2014/main" id="{C8C11272-BE18-421B-DDD5-862E29812C34}"/>
              </a:ext>
            </a:extLst>
          </p:cNvPr>
          <p:cNvSpPr txBox="1"/>
          <p:nvPr/>
        </p:nvSpPr>
        <p:spPr>
          <a:xfrm>
            <a:off x="817297" y="1651375"/>
            <a:ext cx="7671248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5 invited speakers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4 oral spotlight talks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20 poster presentations</a:t>
            </a:r>
            <a:endParaRPr lang="en-US" b="1" i="1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~1 hour poster session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i="1" dirty="0"/>
              <a:t>~1 hour debate panel</a:t>
            </a:r>
          </a:p>
        </p:txBody>
      </p:sp>
    </p:spTree>
    <p:extLst>
      <p:ext uri="{BB962C8B-B14F-4D97-AF65-F5344CB8AC3E}">
        <p14:creationId xmlns:p14="http://schemas.microsoft.com/office/powerpoint/2010/main" val="1965518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8F50-65F6-0E78-716A-40BF7398CA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336921" y="518009"/>
            <a:ext cx="8470158" cy="410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955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8F50-65F6-0E78-716A-40BF7398CA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6076060" y="0"/>
            <a:ext cx="2944664" cy="14279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CDF9F7-3A7D-12AC-EDA6-F5C157A29122}"/>
              </a:ext>
            </a:extLst>
          </p:cNvPr>
          <p:cNvSpPr txBox="1"/>
          <p:nvPr/>
        </p:nvSpPr>
        <p:spPr>
          <a:xfrm>
            <a:off x="316195" y="452376"/>
            <a:ext cx="2751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Debate Panel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5F221-FF34-FE3E-DC76-584B612EA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418" y="1600146"/>
            <a:ext cx="1650763" cy="16507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1BB5CE-F8E7-DFF7-BBC6-A86456384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677283" y="1600146"/>
            <a:ext cx="1650763" cy="16507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519600-BA3C-5EC1-110F-3D5A98C160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3554" y="1600145"/>
            <a:ext cx="1650761" cy="16507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DD0309-330A-7467-7A3D-CACAE60281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48" y="1599386"/>
            <a:ext cx="1650762" cy="165076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190C6DF-9DD0-56CC-5B63-22C3AB5A9E0B}"/>
              </a:ext>
            </a:extLst>
          </p:cNvPr>
          <p:cNvSpPr txBox="1"/>
          <p:nvPr/>
        </p:nvSpPr>
        <p:spPr>
          <a:xfrm>
            <a:off x="305411" y="3327060"/>
            <a:ext cx="2198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/>
              <a:t>Animesh</a:t>
            </a:r>
            <a:r>
              <a:rPr lang="en-US" sz="1200" b="1" dirty="0"/>
              <a:t> Garg </a:t>
            </a:r>
            <a:br>
              <a:rPr lang="en-US" sz="1200" b="1" dirty="0"/>
            </a:br>
            <a:r>
              <a:rPr lang="en-US" sz="1200" i="1" dirty="0"/>
              <a:t>Assistant Professor</a:t>
            </a:r>
            <a:br>
              <a:rPr lang="en-US" sz="1200" b="1" dirty="0"/>
            </a:br>
            <a:r>
              <a:rPr lang="en-US" sz="1200" dirty="0"/>
              <a:t>Georgia Tech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0CD9CB-8320-D72A-3AA5-24E2EE1D8350}"/>
              </a:ext>
            </a:extLst>
          </p:cNvPr>
          <p:cNvSpPr txBox="1"/>
          <p:nvPr/>
        </p:nvSpPr>
        <p:spPr>
          <a:xfrm>
            <a:off x="2238172" y="3327060"/>
            <a:ext cx="2537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/>
              <a:t>Coline</a:t>
            </a:r>
            <a:r>
              <a:rPr lang="en-US" sz="1200" b="1" dirty="0"/>
              <a:t> Devin</a:t>
            </a:r>
            <a:br>
              <a:rPr lang="en-US" sz="1200" b="1" dirty="0"/>
            </a:br>
            <a:r>
              <a:rPr lang="en-US" sz="1200" i="1" dirty="0"/>
              <a:t>Senior Research Scientist</a:t>
            </a:r>
            <a:br>
              <a:rPr lang="en-US" sz="1200" i="1" dirty="0"/>
            </a:br>
            <a:r>
              <a:rPr lang="en-US" sz="1200" dirty="0" err="1"/>
              <a:t>Deepmind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4B215E-D7CF-E3C8-B9D4-93E48C9B5C31}"/>
              </a:ext>
            </a:extLst>
          </p:cNvPr>
          <p:cNvSpPr txBox="1"/>
          <p:nvPr/>
        </p:nvSpPr>
        <p:spPr>
          <a:xfrm>
            <a:off x="4501681" y="3327060"/>
            <a:ext cx="2198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Niko </a:t>
            </a:r>
            <a:r>
              <a:rPr lang="en-US" sz="1200" b="1" dirty="0" err="1"/>
              <a:t>Sünderhauf</a:t>
            </a:r>
            <a:r>
              <a:rPr lang="en-US" sz="1200" b="1" dirty="0"/>
              <a:t> </a:t>
            </a:r>
            <a:br>
              <a:rPr lang="en-US" sz="1200" b="1" dirty="0"/>
            </a:br>
            <a:r>
              <a:rPr lang="en-US" sz="1200" i="1" dirty="0"/>
              <a:t>Professor</a:t>
            </a:r>
            <a:br>
              <a:rPr lang="en-US" sz="1200" b="1" dirty="0"/>
            </a:br>
            <a:r>
              <a:rPr lang="en-US" sz="1200" dirty="0"/>
              <a:t>QUT Centre for Robotics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85B509-602D-EDAE-BD5E-714C8981C922}"/>
              </a:ext>
            </a:extLst>
          </p:cNvPr>
          <p:cNvSpPr txBox="1"/>
          <p:nvPr/>
        </p:nvSpPr>
        <p:spPr>
          <a:xfrm>
            <a:off x="6603662" y="3327060"/>
            <a:ext cx="2198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Yonatan Bisk</a:t>
            </a:r>
            <a:br>
              <a:rPr lang="en-US" sz="1200" b="1" dirty="0"/>
            </a:br>
            <a:r>
              <a:rPr lang="en-US" sz="1200" i="1" dirty="0"/>
              <a:t>Assistant Professor</a:t>
            </a:r>
            <a:br>
              <a:rPr lang="en-US" sz="1200" b="1" dirty="0"/>
            </a:br>
            <a:r>
              <a:rPr lang="en-US" sz="1200" dirty="0"/>
              <a:t>Carnegie Mellon University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4B3A1D-9579-8E7F-8D3B-572AF6A85604}"/>
              </a:ext>
            </a:extLst>
          </p:cNvPr>
          <p:cNvSpPr txBox="1"/>
          <p:nvPr/>
        </p:nvSpPr>
        <p:spPr>
          <a:xfrm>
            <a:off x="1092196" y="4322114"/>
            <a:ext cx="5913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Slido</a:t>
            </a:r>
            <a:r>
              <a:rPr lang="en-US" dirty="0"/>
              <a:t> — submit your questions! https://</a:t>
            </a:r>
            <a:r>
              <a:rPr lang="en-US" dirty="0" err="1"/>
              <a:t>app.sli.do</a:t>
            </a:r>
            <a:r>
              <a:rPr lang="en-US" dirty="0"/>
              <a:t>/event/2YZ5kgotSaPWcEEgSiYS6H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6F26F228-3ED1-26EE-A47A-4F903A47B95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1986" t="8795" r="11986" b="33322"/>
          <a:stretch/>
        </p:blipFill>
        <p:spPr>
          <a:xfrm>
            <a:off x="66100" y="4075943"/>
            <a:ext cx="1026096" cy="101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288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8F50-65F6-0E78-716A-40BF7398CA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336921" y="518009"/>
            <a:ext cx="8470158" cy="410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65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8F50-65F6-0E78-716A-40BF7398CA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6076060" y="0"/>
            <a:ext cx="2944664" cy="14279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CDF9F7-3A7D-12AC-EDA6-F5C157A29122}"/>
              </a:ext>
            </a:extLst>
          </p:cNvPr>
          <p:cNvSpPr txBox="1"/>
          <p:nvPr/>
        </p:nvSpPr>
        <p:spPr>
          <a:xfrm>
            <a:off x="316194" y="452376"/>
            <a:ext cx="4443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Best Paper Selection</a:t>
            </a:r>
          </a:p>
        </p:txBody>
      </p:sp>
      <p:sp>
        <p:nvSpPr>
          <p:cNvPr id="4" name="Google Shape;132;p25">
            <a:extLst>
              <a:ext uri="{FF2B5EF4-FFF2-40B4-BE49-F238E27FC236}">
                <a16:creationId xmlns:a16="http://schemas.microsoft.com/office/drawing/2014/main" id="{F30D3521-DCB5-B69C-EBE9-B923FE18B3F8}"/>
              </a:ext>
            </a:extLst>
          </p:cNvPr>
          <p:cNvSpPr txBox="1"/>
          <p:nvPr/>
        </p:nvSpPr>
        <p:spPr>
          <a:xfrm>
            <a:off x="1367327" y="1651375"/>
            <a:ext cx="6503351" cy="249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/>
              <a:t>20 paper accepted for poster presentation at RSS </a:t>
            </a:r>
            <a:r>
              <a:rPr lang="en" sz="1500" dirty="0" err="1"/>
              <a:t>SemRob</a:t>
            </a:r>
            <a:r>
              <a:rPr lang="en" sz="1500" dirty="0"/>
              <a:t> 2024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endParaRPr lang="en"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/>
              <a:t>Paper Track Chair(s) selected the four highest-ranking papers as Oral Spotlights, according to reviewer scores</a:t>
            </a:r>
            <a:br>
              <a:rPr lang="en" sz="1500" dirty="0"/>
            </a:b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/>
              <a:t>Chairs confirmed paper and reviewer efficacy</a:t>
            </a:r>
            <a:br>
              <a:rPr lang="en" sz="1500" dirty="0"/>
            </a:b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/>
              <a:t>Chairs compared and ranked top-4 works, double-blind</a:t>
            </a:r>
            <a:br>
              <a:rPr lang="en" sz="1500" dirty="0"/>
            </a:b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/>
              <a:t>Paper Track Chair(s) selected highest ranking paper as Best Paper</a:t>
            </a: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199809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8F50-65F6-0E78-716A-40BF7398CA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6076060" y="0"/>
            <a:ext cx="2944664" cy="14279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CDF9F7-3A7D-12AC-EDA6-F5C157A29122}"/>
              </a:ext>
            </a:extLst>
          </p:cNvPr>
          <p:cNvSpPr txBox="1"/>
          <p:nvPr/>
        </p:nvSpPr>
        <p:spPr>
          <a:xfrm>
            <a:off x="316194" y="452376"/>
            <a:ext cx="5144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Best Paper Award 🎉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103427-D612-76A3-060B-679B68DF37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9637"/>
          <a:stretch/>
        </p:blipFill>
        <p:spPr>
          <a:xfrm>
            <a:off x="1048236" y="1626048"/>
            <a:ext cx="6856624" cy="1891404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8" name="Google Shape;139;p26">
            <a:extLst>
              <a:ext uri="{FF2B5EF4-FFF2-40B4-BE49-F238E27FC236}">
                <a16:creationId xmlns:a16="http://schemas.microsoft.com/office/drawing/2014/main" id="{4F16A814-EDFA-C8C1-B701-8106D97FCEDD}"/>
              </a:ext>
            </a:extLst>
          </p:cNvPr>
          <p:cNvSpPr txBox="1"/>
          <p:nvPr/>
        </p:nvSpPr>
        <p:spPr>
          <a:xfrm>
            <a:off x="2574500" y="3715528"/>
            <a:ext cx="3995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Presented by </a:t>
            </a:r>
            <a:r>
              <a:rPr lang="en" b="1" i="1" dirty="0" err="1"/>
              <a:t>Haoran</a:t>
            </a:r>
            <a:r>
              <a:rPr lang="en" b="1" i="1" dirty="0"/>
              <a:t> </a:t>
            </a:r>
            <a:r>
              <a:rPr lang="en" b="1" i="1" dirty="0" err="1"/>
              <a:t>Geng</a:t>
            </a:r>
            <a:r>
              <a:rPr lang="en" b="1" i="1" dirty="0"/>
              <a:t> </a:t>
            </a:r>
            <a:r>
              <a:rPr lang="en" i="1" dirty="0"/>
              <a:t>(Stanford + Peking)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856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8F50-65F6-0E78-716A-40BF7398CA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336921" y="518009"/>
            <a:ext cx="8470158" cy="410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28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/>
        </p:nvSpPr>
        <p:spPr>
          <a:xfrm>
            <a:off x="1119499" y="2111404"/>
            <a:ext cx="3556017" cy="279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222222"/>
                </a:solidFill>
                <a:highlight>
                  <a:srgbClr val="FFFFFF"/>
                </a:highlight>
              </a:rPr>
              <a:t>Dr. Jonathan Francis (Bosch Center for AI + CMU)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222222"/>
                </a:solidFill>
                <a:highlight>
                  <a:srgbClr val="FFFFFF"/>
                </a:highlight>
              </a:rPr>
              <a:t>Dr. Andrew Melnik (Bielefeld)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222222"/>
                </a:solidFill>
                <a:highlight>
                  <a:srgbClr val="FFFFFF"/>
                </a:highlight>
              </a:rPr>
              <a:t>Dr. Krishan Rana (QUT)</a:t>
            </a:r>
          </a:p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222222"/>
                </a:solidFill>
                <a:highlight>
                  <a:srgbClr val="FFFFFF"/>
                </a:highlight>
              </a:rPr>
              <a:t>Saumya Saxena (CMU)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</a:rPr>
              <a:t>Prof. Hyemin Ahn (UNIIST)</a:t>
            </a:r>
          </a:p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222222"/>
                </a:solidFill>
                <a:highlight>
                  <a:srgbClr val="FFFFFF"/>
                </a:highlight>
              </a:rPr>
              <a:t>Prof. Qiang Li (SZTU)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222222"/>
                </a:solidFill>
                <a:highlight>
                  <a:srgbClr val="FFFFFF"/>
                </a:highlight>
              </a:rPr>
              <a:t>Prof. Jean Oh (CMU)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sp>
        <p:nvSpPr>
          <p:cNvPr id="160" name="Google Shape;160;p29"/>
          <p:cNvSpPr txBox="1"/>
          <p:nvPr/>
        </p:nvSpPr>
        <p:spPr>
          <a:xfrm>
            <a:off x="4804286" y="2111404"/>
            <a:ext cx="2351700" cy="279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 dirty="0" err="1">
                <a:solidFill>
                  <a:srgbClr val="0097A7"/>
                </a:solidFill>
                <a:highlight>
                  <a:srgbClr val="FFFFFF"/>
                </a:highlight>
              </a:rPr>
              <a:t>jon.francis@us.bosch.com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 dirty="0" err="1">
                <a:solidFill>
                  <a:srgbClr val="0097A7"/>
                </a:solidFill>
                <a:highlight>
                  <a:srgbClr val="FFFFFF"/>
                </a:highlight>
              </a:rPr>
              <a:t>andrew.melnik@uni-bielefeld.de</a:t>
            </a:r>
            <a:endParaRPr lang="en-US" sz="11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 dirty="0" err="1">
                <a:solidFill>
                  <a:srgbClr val="0097A7"/>
                </a:solidFill>
                <a:highlight>
                  <a:srgbClr val="FFFFFF"/>
                </a:highlight>
              </a:rPr>
              <a:t>k.rana@qut.edu.au</a:t>
            </a:r>
            <a:endParaRPr lang="en-US" sz="1100" u="sng" dirty="0">
              <a:solidFill>
                <a:srgbClr val="0097A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 dirty="0" err="1">
                <a:solidFill>
                  <a:srgbClr val="0097A7"/>
                </a:solidFill>
                <a:highlight>
                  <a:srgbClr val="FFFFFF"/>
                </a:highlight>
              </a:rPr>
              <a:t>saumyas@cs.cmu.edu</a:t>
            </a:r>
            <a:endParaRPr lang="en-US" sz="11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 dirty="0" err="1">
                <a:solidFill>
                  <a:srgbClr val="0097A7"/>
                </a:solidFill>
                <a:highlight>
                  <a:srgbClr val="FFFFFF"/>
                </a:highlight>
              </a:rPr>
              <a:t>hyemin.ahn@unist.ac.kr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 dirty="0">
                <a:solidFill>
                  <a:srgbClr val="0097A7"/>
                </a:solidFill>
                <a:highlight>
                  <a:srgbClr val="FFFFFF"/>
                </a:highlight>
              </a:rPr>
              <a:t>liqiang1@sztu.edu.cn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 dirty="0" err="1">
                <a:solidFill>
                  <a:srgbClr val="0097A7"/>
                </a:solidFill>
                <a:highlight>
                  <a:srgbClr val="FFFFFF"/>
                </a:highlight>
              </a:rPr>
              <a:t>jeanoh@cmu.edu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741EFE-87B8-3572-E575-E261B76F39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9"/>
          <a:stretch/>
        </p:blipFill>
        <p:spPr>
          <a:xfrm>
            <a:off x="6076060" y="0"/>
            <a:ext cx="2944664" cy="1427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C6A072-30B1-2C1E-327C-2264B3761921}"/>
              </a:ext>
            </a:extLst>
          </p:cNvPr>
          <p:cNvSpPr txBox="1"/>
          <p:nvPr/>
        </p:nvSpPr>
        <p:spPr>
          <a:xfrm>
            <a:off x="316194" y="452376"/>
            <a:ext cx="5144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Thank you!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FE8393-FDE9-4E4C-1E4B-2405EA8E4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960715"/>
            <a:ext cx="1373400" cy="13699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DA9843-C070-7388-1D94-83F6627A1811}"/>
              </a:ext>
            </a:extLst>
          </p:cNvPr>
          <p:cNvSpPr txBox="1"/>
          <p:nvPr/>
        </p:nvSpPr>
        <p:spPr>
          <a:xfrm>
            <a:off x="7543798" y="4330699"/>
            <a:ext cx="1373401" cy="63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</a:rPr>
              <a:t>Website:</a:t>
            </a:r>
            <a:r>
              <a:rPr lang="en-US" sz="1050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</a:rPr>
              <a:t> paper PDFs, presentation slides, videos, etc.</a:t>
            </a:r>
          </a:p>
        </p:txBody>
      </p:sp>
    </p:spTree>
    <p:extLst>
      <p:ext uri="{BB962C8B-B14F-4D97-AF65-F5344CB8AC3E}">
        <p14:creationId xmlns:p14="http://schemas.microsoft.com/office/powerpoint/2010/main" val="179830795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1004</Words>
  <Application>Microsoft Macintosh PowerPoint</Application>
  <PresentationFormat>On-screen Show (16:9)</PresentationFormat>
  <Paragraphs>88</Paragraphs>
  <Slides>15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Montserrat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Francis Jon (CR/RSI1-NA)</cp:lastModifiedBy>
  <cp:revision>160</cp:revision>
  <dcterms:modified xsi:type="dcterms:W3CDTF">2024-07-19T06:58:12Z</dcterms:modified>
</cp:coreProperties>
</file>